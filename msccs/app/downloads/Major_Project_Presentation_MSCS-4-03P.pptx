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External Examiner, Internal Supervisor, and Faculty Members. A very good morning. Today, I am proud to present my M.Sc. Computer Science final major project dissertation titled 'Design and Implementation of a High-Throughput, Offline-First, Multi-Tenant SaaS Enterprise POS Architecture with Integrated AI Copilot and Computer Vision OCR'—codenamed SSR ONE AI. This project addresses the fundamental operational vulnerabilities in modern commercial hospitality systems: network-induced counter latency, offline failure during internet blackouts, and cross-tenant data security risks. Over the next 12 minutes, I will demonstrate how our distributed architecture solves these challenges."*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commercial hospitality and retail, speed is an existential operational requirement. Traditional cloud SaaS architectures force cashiers to wait for remote round-trip database commits. During high-pressure dinner rushes, network jitter or localized Wi-Fi drops freeze the cash register, causing double billing and angry patrons. Furthermore, in multi-tenant SaaS environments, relying on software developers to remember 'WHERE tenant_id = X' on every SQL query is an unacceptable security hazard. Our motivation was to build an enterprise platform that guarantees sub-millisecond local billing, 100% offline continuity, and kernel-level multi-tenant security."*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problems, we formulated five precise technical objectives: First, develop an offline-first transactional engine inside the browser using IndexedDB. Second, construct a high-throughput asynchronous backend on FastAPI and async PostgreSQL. Third, mathematically eliminate cross-tenant data leaks using PostgreSQL Row-Level Security. Fourth, deliver sub-second kitchen ticket dispatch over full-duplex WebSockets. And fifth, embed an intelligent multi-agent AI Copilot alongside localized computer vision OCR to automate supplier invoice digestion without recurring cloud API costs."*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overarching architectural blueprint of SSR ONE AI. Constructed as an enterprise monorepo using pnpm and Turborepo, the platform cleanly decouples frontend web applications from shared type packages and backend microservices. The client layer runs React 19 with local IndexedDB storage. Requests pass through an Nginx reverse proxy to our FastAPI ASGI backend. Heavy tasks like PDF generation and OCR scanning are offloaded to asynchronous Celery workers running on Redis queues, while PostgreSQL 16 provides transactional ACID persistence with Row-Level Security."*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our primary innovation: the Zero-Wait Offline Billing Engine. When a cashier clicks 'Send to Kitchen', the order is written directly into the browser's native IndexedDB database via Dexie.js in just 0.38 milliseconds. The UI clears instantly so the cashier can serve the next customer. Notice what does NOT happen: we do not await the remote cloud server. A decoupled background worker monitors network state and drains orders asynchronously using unique UUIDv4 idempotency keys. Even if the restaurant's router is physically unplugged for 30 minutes, billing operations continue at 100% capacity."*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cybersecurity, we rejected standard application-layer filters. Instead, we enforce security at the PostgreSQL database kernel using Row-Level Security. Every single table inherits from TenantBaseModel. When a request arrives, our FastAPI dependency extracts the tenant ID from the cryptographically signed JWT and executes SET LOCAL app.current_tenant_id. From that exact microsecond, PostgreSQL's query engine physically blocks any SQL statement from accessing rows belonging to another tenant. Even if an engineer wrote 'SELECT * FROM orders', the database automatically restricts the result set strictly to that tenant."*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backend is built on FastAPI and Uvicorn. Unlike traditional synchronous WSGI frameworks like Django or Flask that tie up an entire OS thread per request, ASGI uses an asynchronous coroutine event loop. When a query is waiting on database disk I/O, the event loop immediately serves other incoming connections. Furthermore, to solve the race condition where multiple cashiers submit orders at the exact same millisecond, we implemented an atomic sequence counter using PostgreSQL's 'SELECT ... WITH FOR UPDATE' row lock, guaranteeing collision-free daily tokens like #042 without duplicate numbers."*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fast-paced commercial kitchen, paper tickets get lost or soaked in grease. We developed a digital Kitchen Display System operating over full-duplex WebSockets. The moment an order commits to the database, our internal event bus broadcasts the ticket to kitchen display terminals in under 25 milliseconds. The screen chimes and color-codes tickets by cooking station (Tandoor, Grill, Curry). Simultaneously, our asynchronous print queue dispatches raw ESC/POS bytes over the local network to thermal receipt printers without stalling the cashier's screen."*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modernize administrative operations, we integrated two advanced intelligence engines: First, a multi-agent AI Copilot featuring specialized personas for the CEO, Chef, and Accountant. Responses stream token-by-token over Server-Sent Events with full audit logging in PostgreSQL. Second, a localized computer vision pipeline powered by Tesseract OCR and OpenCV. When vegetable or grocery deliveries arrive, staff photograph the paper bill. The system removes visual noise, binarizes the text, extracts line items and GST tax totals, and auto-populates draft purchase orders without paying recurring cloud vision API fees."*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the empirical benchmark data gathered from 1,000 synthetic retail checkout transactions. As shown on the slide, our offline-first architecture achieved a P50 median local commit latency of just 0.38 milliseconds compared to 142.3 milliseconds for traditional cloud POS—a 99.7% reduction in operational latency. Under 2% network packet loss, traditional cloud checkouts suffered an 7.8% failure rate, whereas our system experienced 0% failure. During a simulated 30-minute complete router blackout, our terminal processed 150 orders seamlessly, syncing all records in 4.2 seconds upon network return."*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screenshots illustrate the production system in action. The top image shows the POS billing interface with zero-wait cart updates. The bottom-left shows the kitchen KDS terminal receiving real-time tickets over WebSockets. And the right image demonstrates our AI Copilot providing executive profit analysis and inventory alerts directly from live database metrics."*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valuable time and attention. I am now fully prepared and eager to defend my research and engineering architecture in the Viva Voce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lgn="ctr">
              <a:defRPr sz="1500" b="1">
                <a:solidFill>
                  <a:srgbClr val="C58B3A"/>
                </a:solidFill>
              </a:defRPr>
            </a:pPr>
            <a:r>
              <a:t>JAGAT GURU NANAK DEV PUNJAB STATE OPEN UNIVERSITY, PATIALA</a:t>
            </a:r>
          </a:p>
        </p:txBody>
      </p:sp>
      <p:sp>
        <p:nvSpPr>
          <p:cNvPr id="4" name="TextBox 3"/>
          <p:cNvSpPr txBox="1"/>
          <p:nvPr/>
        </p:nvSpPr>
        <p:spPr>
          <a:xfrm>
            <a:off x="914400" y="1188720"/>
            <a:ext cx="10362895" cy="457200"/>
          </a:xfrm>
          <a:prstGeom prst="rect">
            <a:avLst/>
          </a:prstGeom>
          <a:noFill/>
        </p:spPr>
        <p:txBody>
          <a:bodyPr wrap="none">
            <a:spAutoFit/>
          </a:bodyPr>
          <a:lstStyle/>
          <a:p>
            <a:pPr algn="ctr">
              <a:defRPr sz="1200" b="1">
                <a:solidFill>
                  <a:srgbClr val="0F1E36"/>
                </a:solidFill>
              </a:defRPr>
            </a:pPr>
            <a:r>
              <a:t>DEPARTMENT OF COMPUTER SCIENCE &amp; APPLICATIONS | M.SC. (CS) SEMESTER-IV</a:t>
            </a:r>
          </a:p>
        </p:txBody>
      </p:sp>
      <p:sp>
        <p:nvSpPr>
          <p:cNvPr id="5" name="TextBox 4"/>
          <p:cNvSpPr txBox="1"/>
          <p:nvPr/>
        </p:nvSpPr>
        <p:spPr>
          <a:xfrm>
            <a:off x="1097280" y="2011680"/>
            <a:ext cx="9997135" cy="2011680"/>
          </a:xfrm>
          <a:prstGeom prst="rect">
            <a:avLst/>
          </a:prstGeom>
          <a:noFill/>
        </p:spPr>
        <p:txBody>
          <a:bodyPr wrap="square">
            <a:spAutoFit/>
          </a:bodyPr>
          <a:lstStyle/>
          <a:p>
            <a:pPr algn="ctr">
              <a:defRPr sz="2400" b="1">
                <a:solidFill>
                  <a:srgbClr val="0F1E36"/>
                </a:solidFill>
              </a:defRPr>
            </a:pPr>
            <a:r>
              <a:t>Design and Implementation of a High-Throughput, Offline-First, Multi-Tenant SaaS Enterprise POS Architecture with Integrated AI Copilot and Computer Vision OCR</a:t>
            </a:r>
          </a:p>
        </p:txBody>
      </p:sp>
      <p:sp>
        <p:nvSpPr>
          <p:cNvPr id="6" name="Rectangle 5"/>
          <p:cNvSpPr/>
          <p:nvPr/>
        </p:nvSpPr>
        <p:spPr>
          <a:xfrm>
            <a:off x="2286000" y="4297680"/>
            <a:ext cx="7619695" cy="17373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E36"/>
                </a:solidFill>
              </a:defRPr>
            </a:pPr>
            <a:r>
              <a:t>Candidate: Sumit Singh   |   Roll Number: PSOU/MSCS/2026/042</a:t>
            </a:r>
          </a:p>
          <a:p>
            <a:pPr algn="ctr">
              <a:defRPr sz="1200">
                <a:solidFill>
                  <a:srgbClr val="1E293B"/>
                </a:solidFill>
              </a:defRPr>
            </a:pPr>
            <a:r>
              <a:t>Faculty Supervisor: Dr. Harpreet Singh (Assistant Professor)</a:t>
            </a:r>
          </a:p>
          <a:p>
            <a:pPr algn="ctr">
              <a:defRPr sz="1100" b="1">
                <a:solidFill>
                  <a:srgbClr val="C58B3A"/>
                </a:solidFill>
              </a:defRPr>
            </a:pPr>
            <a:r>
              <a:t>Course: MSCS-4-03P (Major Project — 200 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Motivation &amp; Problem Statement</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Problem Taxonomy:</a:t>
            </a:r>
          </a:p>
          <a:p>
            <a:pPr>
              <a:spcAft>
                <a:spcPts val="1000"/>
              </a:spcAft>
              <a:defRPr sz="1300">
                <a:solidFill>
                  <a:srgbClr val="1E293B"/>
                </a:solidFill>
              </a:defRPr>
            </a:pPr>
            <a:r>
              <a:t>•   *1. The Latency Wall*: Synchronous cloud HTTP round-trips cause 150ms–800ms delays per ticket, generating long cashier queues.</a:t>
            </a:r>
          </a:p>
          <a:p>
            <a:pPr>
              <a:spcAft>
                <a:spcPts val="1000"/>
              </a:spcAft>
              <a:defRPr sz="1300">
                <a:solidFill>
                  <a:srgbClr val="1E293B"/>
                </a:solidFill>
              </a:defRPr>
            </a:pPr>
            <a:r>
              <a:t>•   *2. The Network Blackout Cliff*: Commercial kitchens and mall basements are RF dead-zones; internet drops paralyze counters.</a:t>
            </a:r>
          </a:p>
          <a:p>
            <a:pPr>
              <a:spcAft>
                <a:spcPts val="1000"/>
              </a:spcAft>
              <a:defRPr sz="1300">
                <a:solidFill>
                  <a:srgbClr val="1E293B"/>
                </a:solidFill>
              </a:defRPr>
            </a:pPr>
            <a:r>
              <a:t>•   *3. Cross-Tenant Vulnerability*: In shared SaaS databases, relying on manual application-level filters creates severe data leak risks.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2 of 15   |   Candidate: Sumit Singh (Roll No: PSOU/MSCS/2026/042)   |   JGND PSOU, Patiala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Project Objectives &amp; Research Scope</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Specific Research Objectives:</a:t>
            </a:r>
          </a:p>
          <a:p>
            <a:pPr>
              <a:spcAft>
                <a:spcPts val="1000"/>
              </a:spcAft>
              <a:defRPr sz="1300">
                <a:solidFill>
                  <a:srgbClr val="1E293B"/>
                </a:solidFill>
              </a:defRPr>
            </a:pPr>
            <a:r>
              <a:t>•   Obj 1: Sub-millisecond ($&lt; 0.5\text{ms}$) local-first billing via Zustand and Dexie.js (IndexedDB).</a:t>
            </a:r>
          </a:p>
          <a:p>
            <a:pPr>
              <a:spcAft>
                <a:spcPts val="1000"/>
              </a:spcAft>
              <a:defRPr sz="1300">
                <a:solidFill>
                  <a:srgbClr val="1E293B"/>
                </a:solidFill>
              </a:defRPr>
            </a:pPr>
            <a:r>
              <a:t>•   Obj 2: High-throughput asynchronous backend via Python 3.11, FastAPI (ASGI), and PostgreSQL 16.</a:t>
            </a:r>
          </a:p>
          <a:p>
            <a:pPr>
              <a:spcAft>
                <a:spcPts val="1000"/>
              </a:spcAft>
              <a:defRPr sz="1300">
                <a:solidFill>
                  <a:srgbClr val="1E293B"/>
                </a:solidFill>
              </a:defRPr>
            </a:pPr>
            <a:r>
              <a:t>•   Obj 3: Kernel-enforced multi-tenancy via PostgreSQL Row-Level Security (RLS).</a:t>
            </a:r>
          </a:p>
          <a:p>
            <a:pPr>
              <a:spcAft>
                <a:spcPts val="1000"/>
              </a:spcAft>
              <a:defRPr sz="1300">
                <a:solidFill>
                  <a:srgbClr val="1E293B"/>
                </a:solidFill>
              </a:defRPr>
            </a:pPr>
            <a:r>
              <a:t>•   Obj 4: Real-time kitchen dispatch ($&lt; 25\text{ms}$) via WebSockets and asynchronous ESC/POS thermal printing.</a:t>
            </a:r>
          </a:p>
          <a:p>
            <a:pPr>
              <a:spcAft>
                <a:spcPts val="1000"/>
              </a:spcAft>
              <a:defRPr sz="1300">
                <a:solidFill>
                  <a:srgbClr val="1E293B"/>
                </a:solidFill>
              </a:defRPr>
            </a:pPr>
            <a:r>
              <a:t>•   Obj 5: Multimodal AI Copilot (SSE streaming) and localized Tesseract OCR for automated supplier invoice scanning.</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3 of 15   |   Candidate: Sumit Singh (Roll No: PSOU/MSCS/2026/042)   |   JGND PSOU, Patiala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Overall System Architecture Blueprint</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Architectural Map:</a:t>
            </a:r>
          </a:p>
          <a:p>
            <a:pPr>
              <a:spcAft>
                <a:spcPts val="1000"/>
              </a:spcAft>
              <a:defRPr sz="1300">
                <a:solidFill>
                  <a:srgbClr val="1E293B"/>
                </a:solidFill>
              </a:defRPr>
            </a:pPr>
            <a:r>
              <a:t>•   *Monorepo Structure*: Turborepo + pnpm workspaces (apps/, packages/, services/).</a:t>
            </a:r>
          </a:p>
          <a:p>
            <a:pPr>
              <a:spcAft>
                <a:spcPts val="1000"/>
              </a:spcAft>
              <a:defRPr sz="1300">
                <a:solidFill>
                  <a:srgbClr val="1E293B"/>
                </a:solidFill>
              </a:defRPr>
            </a:pPr>
            <a:r>
              <a:t>•   *Client Layer*: React 19, Zustand, Dexie.js, TanStack Router.</a:t>
            </a:r>
          </a:p>
          <a:p>
            <a:pPr>
              <a:spcAft>
                <a:spcPts val="1000"/>
              </a:spcAft>
              <a:defRPr sz="1300">
                <a:solidFill>
                  <a:srgbClr val="1E293B"/>
                </a:solidFill>
              </a:defRPr>
            </a:pPr>
            <a:r>
              <a:t>•   *Gateway*: Nginx SSL termination, CORS regex filter, Gzip.</a:t>
            </a:r>
          </a:p>
          <a:p>
            <a:pPr>
              <a:spcAft>
                <a:spcPts val="1000"/>
              </a:spcAft>
              <a:defRPr sz="1300">
                <a:solidFill>
                  <a:srgbClr val="1E293B"/>
                </a:solidFill>
              </a:defRPr>
            </a:pPr>
            <a:r>
              <a:t>•   *Backend*: FastAPI ASGI event loop, Celery workers, Redis.</a:t>
            </a:r>
          </a:p>
          <a:p>
            <a:pPr>
              <a:spcAft>
                <a:spcPts val="1000"/>
              </a:spcAft>
              <a:defRPr sz="1300">
                <a:solidFill>
                  <a:srgbClr val="1E293B"/>
                </a:solidFill>
              </a:defRPr>
            </a:pPr>
            <a:r>
              <a:t>•   *Persistence*: PostgreSQL 16 (Neon) with RLS + PgBouncer pooler.</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4 of 15   |   Candidate: Sumit Singh (Roll No: PSOU/MSCS/2026/042)   |   JGND PSOU, Patiala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 Zero-Wait Offline Billing Mechanism</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Dataflow:</a:t>
            </a:r>
          </a:p>
          <a:p>
            <a:pPr>
              <a:spcAft>
                <a:spcPts val="1000"/>
              </a:spcAft>
              <a:defRPr sz="1300">
                <a:solidFill>
                  <a:srgbClr val="1E293B"/>
                </a:solidFill>
              </a:defRPr>
            </a:pPr>
            <a:r>
              <a:t>•   Cashier Tap ➡️ Zustand In-Memory Mutation ($&lt; 0.05\text{ms}$) ➡️ Dexie.js Write ($0.38\text{ms}$) ➡️ UI Form Cleared Immediately.</a:t>
            </a:r>
          </a:p>
          <a:p>
            <a:pPr>
              <a:spcAft>
                <a:spcPts val="1000"/>
              </a:spcAft>
              <a:defRPr sz="1300">
                <a:solidFill>
                  <a:srgbClr val="1E293B"/>
                </a:solidFill>
              </a:defRPr>
            </a:pPr>
            <a:r>
              <a:t>•   *Decoupled Background Worker*: useZeroWaitOrderSync.ts asynchronously drains orders to server.</a:t>
            </a:r>
          </a:p>
          <a:p>
            <a:pPr>
              <a:spcAft>
                <a:spcPts val="1000"/>
              </a:spcAft>
              <a:defRPr sz="1300">
                <a:solidFill>
                  <a:srgbClr val="1E293B"/>
                </a:solidFill>
              </a:defRPr>
            </a:pPr>
            <a:r>
              <a:t>•   *Idempotency*: RFC4122 UUIDv4 tokens eliminate duplicate billing during network retries.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5 of 15   |   Candidate: Sumit Singh (Roll No: PSOU/MSCS/2026/042)   |   JGND PSOU, Patiala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Multi-Tenant Database Security via PostgreSQL RLS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DDL Snippet &amp; Flowchart:</a:t>
            </a:r>
          </a:p>
          <a:p>
            <a:pPr>
              <a:spcAft>
                <a:spcPts val="1000"/>
              </a:spcAft>
              <a:defRPr sz="1300">
                <a:solidFill>
                  <a:srgbClr val="1E293B"/>
                </a:solidFill>
              </a:defRPr>
            </a:pPr>
            <a:r>
              <a:t>•   ALTER TABLE orders ENABLE ROW LEVEL SECURITY;</a:t>
            </a:r>
          </a:p>
          <a:p>
            <a:pPr>
              <a:spcAft>
                <a:spcPts val="1000"/>
              </a:spcAft>
              <a:defRPr sz="1300">
                <a:solidFill>
                  <a:srgbClr val="1E293B"/>
                </a:solidFill>
              </a:defRPr>
            </a:pPr>
            <a:r>
              <a:t>•   CREATE POLICY tenant_isolation_policy ON orders USING (tenant_id = current_setting('app.current_tenant_id')::bigint);</a:t>
            </a:r>
          </a:p>
          <a:p>
            <a:pPr>
              <a:spcAft>
                <a:spcPts val="1000"/>
              </a:spcAft>
              <a:defRPr sz="1300">
                <a:solidFill>
                  <a:srgbClr val="1E293B"/>
                </a:solidFill>
              </a:defRPr>
            </a:pPr>
            <a:r>
              <a:t>•   Session Binding: SET LOCAL app.current_tenant_id = '...' injected on every connection checkout.</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6 of 15   |   Candidate: Sumit Singh (Roll No: PSOU/MSCS/2026/042)   |   JGND PSOU, Patiala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High-Throughput Asynchronous Backend (FastAPI &amp; ASGI)</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Benchmarking Comparison:</a:t>
            </a:r>
          </a:p>
          <a:p>
            <a:pPr>
              <a:spcAft>
                <a:spcPts val="1000"/>
              </a:spcAft>
              <a:defRPr sz="1300">
                <a:solidFill>
                  <a:srgbClr val="1E293B"/>
                </a:solidFill>
              </a:defRPr>
            </a:pPr>
            <a:r>
              <a:t>•   WSGI (Thread-per-request) vs. ASGI (Coroutine Event Loop).</a:t>
            </a:r>
          </a:p>
          <a:p>
            <a:pPr>
              <a:spcAft>
                <a:spcPts val="1000"/>
              </a:spcAft>
              <a:defRPr sz="1300">
                <a:solidFill>
                  <a:srgbClr val="1E293B"/>
                </a:solidFill>
              </a:defRPr>
            </a:pPr>
            <a:r>
              <a:t>•   Non-blocking asyncpg connection pool with PgBouncer.</a:t>
            </a:r>
          </a:p>
          <a:p>
            <a:pPr>
              <a:spcAft>
                <a:spcPts val="1000"/>
              </a:spcAft>
              <a:defRPr sz="1300">
                <a:solidFill>
                  <a:srgbClr val="1E293B"/>
                </a:solidFill>
              </a:defRPr>
            </a:pPr>
            <a:r>
              <a:t>•   Concurrency Handling: Atomic sequence token generation (with_for_update()).</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7 of 15   |   Candidate: Sumit Singh (Roll No: PSOU/MSCS/2026/042)   |   JGND PSOU, Patiala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Real-Time Kitchen Display System (KDS) &amp; WebSockets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Screen Mockup &amp; Diagram:</a:t>
            </a:r>
          </a:p>
          <a:p>
            <a:pPr>
              <a:spcAft>
                <a:spcPts val="1000"/>
              </a:spcAft>
              <a:defRPr sz="1300">
                <a:solidFill>
                  <a:srgbClr val="1E293B"/>
                </a:solidFill>
              </a:defRPr>
            </a:pPr>
            <a:r>
              <a:t>•   Full-duplex WebSocket connections (KDSConnectionManager).</a:t>
            </a:r>
          </a:p>
          <a:p>
            <a:pPr>
              <a:spcAft>
                <a:spcPts val="1000"/>
              </a:spcAft>
              <a:defRPr sz="1300">
                <a:solidFill>
                  <a:srgbClr val="1E293B"/>
                </a:solidFill>
              </a:defRPr>
            </a:pPr>
            <a:r>
              <a:t>•   Ping/Pong heartbeats with auto-reconnect backoff (3s).</a:t>
            </a:r>
          </a:p>
          <a:p>
            <a:pPr>
              <a:spcAft>
                <a:spcPts val="1000"/>
              </a:spcAft>
              <a:defRPr sz="1300">
                <a:solidFill>
                  <a:srgbClr val="1E293B"/>
                </a:solidFill>
              </a:defRPr>
            </a:pPr>
            <a:r>
              <a:t>•   Sub-second ticket broadcast SLA: $&lt; 25\text{ms}$.</a:t>
            </a:r>
          </a:p>
          <a:p>
            <a:pPr>
              <a:spcAft>
                <a:spcPts val="1000"/>
              </a:spcAft>
              <a:defRPr sz="1300">
                <a:solidFill>
                  <a:srgbClr val="1E293B"/>
                </a:solidFill>
              </a:defRPr>
            </a:pPr>
            <a:r>
              <a:t>•   Decoupled asynchronous ESC/POS thermal printing queue worker.</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8 of 15   |   Candidate: Sumit Singh (Roll No: PSOU/MSCS/2026/042)   |   JGND PSOU, Patiala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Multimodal AI Copilot &amp; Computer Vision OCR</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Architecture:</a:t>
            </a:r>
          </a:p>
          <a:p>
            <a:pPr>
              <a:spcAft>
                <a:spcPts val="1000"/>
              </a:spcAft>
              <a:defRPr sz="1300">
                <a:solidFill>
                  <a:srgbClr val="1E293B"/>
                </a:solidFill>
              </a:defRPr>
            </a:pPr>
            <a:r>
              <a:t>•   Multi-Agent Personas: CEO, Kitchen, CRM, Finance.</a:t>
            </a:r>
          </a:p>
          <a:p>
            <a:pPr>
              <a:spcAft>
                <a:spcPts val="1000"/>
              </a:spcAft>
              <a:defRPr sz="1300">
                <a:solidFill>
                  <a:srgbClr val="1E293B"/>
                </a:solidFill>
              </a:defRPr>
            </a:pPr>
            <a:r>
              <a:t>•   Streaming: Server-Sent Events (text/event-stream).</a:t>
            </a:r>
          </a:p>
          <a:p>
            <a:pPr>
              <a:spcAft>
                <a:spcPts val="1000"/>
              </a:spcAft>
              <a:defRPr sz="1300">
                <a:solidFill>
                  <a:srgbClr val="1E293B"/>
                </a:solidFill>
              </a:defRPr>
            </a:pPr>
            <a:r>
              <a:t>•   Localized Tesseract OCR: Grayscale ➡️ Otsu Binarization ➡️ Pytesseract Tabular Invoice Extraction.</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9 of 15   |   Candidate: Sumit Singh (Roll No: PSOU/MSCS/2026/042)   |   JGND PSOU, Patiala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Empirical Performance Benchmarks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Results Table:</a:t>
            </a:r>
          </a:p>
          <a:p>
            <a:pPr>
              <a:spcAft>
                <a:spcPts val="1000"/>
              </a:spcAft>
              <a:defRPr sz="1300">
                <a:solidFill>
                  <a:srgbClr val="1E293B"/>
                </a:solidFill>
              </a:defRPr>
            </a:pPr>
            <a:r>
              <a:t>•   P50 Latency: Cloud-Only = 142.3 ms | SSR ONE AI = 0.38 ms (99.7% Faster).</a:t>
            </a:r>
          </a:p>
          <a:p>
            <a:pPr>
              <a:spcAft>
                <a:spcPts val="1000"/>
              </a:spcAft>
              <a:defRPr sz="1300">
                <a:solidFill>
                  <a:srgbClr val="1E293B"/>
                </a:solidFill>
              </a:defRPr>
            </a:pPr>
            <a:r>
              <a:t>•   P99 Latency: Cloud-Only = 1,420 ms | SSR ONE AI = 0.89 ms.</a:t>
            </a:r>
          </a:p>
          <a:p>
            <a:pPr>
              <a:spcAft>
                <a:spcPts val="1000"/>
              </a:spcAft>
              <a:defRPr sz="1300">
                <a:solidFill>
                  <a:srgbClr val="1E293B"/>
                </a:solidFill>
              </a:defRPr>
            </a:pPr>
            <a:r>
              <a:t>•   Offline Resilience: Cloud-Only = 0% Success | SSR ONE AI = 100% Success.</a:t>
            </a:r>
          </a:p>
          <a:p>
            <a:pPr>
              <a:spcAft>
                <a:spcPts val="1000"/>
              </a:spcAft>
              <a:defRPr sz="1300">
                <a:solidFill>
                  <a:srgbClr val="1E293B"/>
                </a:solidFill>
              </a:defRPr>
            </a:pPr>
            <a:r>
              <a:t>•   UI Frame Rate: Cloud-Only = 18–35 FPS | SSR ONE AI = Locked 120 FPS.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10 of 15   |   Candidate: Sumit Singh (Roll No: PSOU/MSCS/2026/042)   |   JGND PSOU, Patiala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System Demonstration &amp; Live Screenshots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Screenshots of Working Platform:</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11 of 15   |   Candidate: Sumit Singh (Roll No: PSOU/MSCS/2026/042)   |   JGND PSOU, Patiala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Security &amp; Concurrency Verification</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Verification Checklist:</a:t>
            </a:r>
          </a:p>
          <a:p>
            <a:pPr>
              <a:spcAft>
                <a:spcPts val="1000"/>
              </a:spcAft>
              <a:defRPr sz="1300">
                <a:solidFill>
                  <a:srgbClr val="1E293B"/>
                </a:solidFill>
              </a:defRPr>
            </a:pPr>
            <a:r>
              <a:t>•   [x] Zero Cross-Tenant Leakage: 100% verified via automated penetration test scripts.</a:t>
            </a:r>
          </a:p>
          <a:p>
            <a:pPr>
              <a:spcAft>
                <a:spcPts val="1000"/>
              </a:spcAft>
              <a:defRPr sz="1300">
                <a:solidFill>
                  <a:srgbClr val="1E293B"/>
                </a:solidFill>
              </a:defRPr>
            </a:pPr>
            <a:r>
              <a:t>•   [x] Zero Token Duplication: 500 concurrent requests yielded exact sequential #001 - #500 numbers.</a:t>
            </a:r>
          </a:p>
          <a:p>
            <a:pPr>
              <a:spcAft>
                <a:spcPts val="1000"/>
              </a:spcAft>
              <a:defRPr sz="1300">
                <a:solidFill>
                  <a:srgbClr val="1E293B"/>
                </a:solidFill>
              </a:defRPr>
            </a:pPr>
            <a:r>
              <a:t>•   [x] Brute-Force Lockout: 5 failed login attempts trigger automated 15-minute account freeze.</a:t>
            </a:r>
          </a:p>
          <a:p>
            <a:pPr>
              <a:spcAft>
                <a:spcPts val="1000"/>
              </a:spcAft>
              <a:defRPr sz="1300">
                <a:solidFill>
                  <a:srgbClr val="1E293B"/>
                </a:solidFill>
              </a:defRPr>
            </a:pPr>
            <a:r>
              <a:t>•   [x] Audit Trail Compliance: All voids, refunds, and AI prompt queries recorded in audit_logs.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12 of 15   |   Candidate: Sumit Singh (Roll No: PSOU/MSCS/2026/042)   |   JGND PSOU, Patiala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Conclusions &amp; Contributions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Key Achievements:</a:t>
            </a:r>
          </a:p>
          <a:p>
            <a:pPr>
              <a:spcAft>
                <a:spcPts val="1000"/>
              </a:spcAft>
              <a:defRPr sz="1300">
                <a:solidFill>
                  <a:srgbClr val="1E293B"/>
                </a:solidFill>
              </a:defRPr>
            </a:pPr>
            <a:r>
              <a:t>•   Proved that local-first IndexedDB persistence eliminates user counter latency.</a:t>
            </a:r>
          </a:p>
          <a:p>
            <a:pPr>
              <a:spcAft>
                <a:spcPts val="1000"/>
              </a:spcAft>
              <a:defRPr sz="1300">
                <a:solidFill>
                  <a:srgbClr val="1E293B"/>
                </a:solidFill>
              </a:defRPr>
            </a:pPr>
            <a:r>
              <a:t>•   Established a bulletproof multi-tenant security architecture via PostgreSQL RLS.</a:t>
            </a:r>
          </a:p>
          <a:p>
            <a:pPr>
              <a:spcAft>
                <a:spcPts val="1000"/>
              </a:spcAft>
              <a:defRPr sz="1300">
                <a:solidFill>
                  <a:srgbClr val="1E293B"/>
                </a:solidFill>
              </a:defRPr>
            </a:pPr>
            <a:r>
              <a:t>•   Delivered an end-to-end commercial platform uniting POS, KDS, ERP, AI, and OCR.</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13 of 15   |   Candidate: Sumit Singh (Roll No: PSOU/MSCS/2026/042)   |   JGND PSOU, Patiala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Academic Publications &amp; References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Research Paper Draft:</a:t>
            </a:r>
          </a:p>
          <a:p>
            <a:pPr>
              <a:spcAft>
                <a:spcPts val="1000"/>
              </a:spcAft>
              <a:defRPr sz="1300">
                <a:solidFill>
                  <a:srgbClr val="1E293B"/>
                </a:solidFill>
              </a:defRPr>
            </a:pPr>
            <a:r>
              <a:t>•   *"A Resilient Offline-First Multi-Tenant Cloud Architecture for High-Concurrency Point-of-Sale Systems"* (Submitted for conference publication).</a:t>
            </a:r>
          </a:p>
          <a:p>
            <a:pPr>
              <a:spcAft>
                <a:spcPts val="1000"/>
              </a:spcAft>
              <a:defRPr sz="1300">
                <a:solidFill>
                  <a:srgbClr val="1E293B"/>
                </a:solidFill>
              </a:defRPr>
            </a:pPr>
            <a:r>
              <a:t>•   Key Citations: Kleppmann et al. (2019), Brewer (2012), Curino et al. (2010), Smith (2007).</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14 of 15   |   Candidate: Sumit Singh (Roll No: PSOU/MSCS/2026/042)   |   JGND PSOU, Patiala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Acknowledgments &amp; Floor Open for Viva Voce</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Text:</a:t>
            </a:r>
          </a:p>
          <a:p>
            <a:pPr>
              <a:spcAft>
                <a:spcPts val="1000"/>
              </a:spcAft>
              <a:defRPr sz="1300">
                <a:solidFill>
                  <a:srgbClr val="1E293B"/>
                </a:solidFill>
              </a:defRPr>
            </a:pPr>
            <a:r>
              <a:t>•   Thank You to the Respected Examiners and Faculty.</a:t>
            </a:r>
          </a:p>
          <a:p>
            <a:pPr>
              <a:spcAft>
                <a:spcPts val="1000"/>
              </a:spcAft>
              <a:defRPr sz="1300">
                <a:solidFill>
                  <a:srgbClr val="1E293B"/>
                </a:solidFill>
              </a:defRPr>
            </a:pPr>
            <a:r>
              <a:t>•   *Ready for Viva Voce Examination &amp; Technical Defense.*</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15 of 15   |   Candidate: Sumit Singh (Roll No: PSOU/MSCS/2026/042)   |   JGND PSOU, Patiala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