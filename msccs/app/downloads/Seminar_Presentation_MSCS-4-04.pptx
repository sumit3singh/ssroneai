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Respected Chairperson, Faculty Members, and my fellow scholars. A very good morning. Today, I present my M.Sc. Computer Science seminar on 'Architectural Patterns for Offline-First Distributed Web Applications: Balancing Zero-Latency User Experience with Eventual Consistency'. In modern mission-critical web applications—from enterprise Point-of-Sale counters and emergency dispatchers to medical logging—the expectation from software has transformed. Users expect instantaneous, sub-millisecond responses and 100% availability even when the internet completely vanishes. Over the next 15 minutes, I will walk you through the theoretical principles, distributed systems trade-offs, and empirical benchmarks of how offline-first architectures solve this fundamental challenge."*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past 15 years, the software industry embraced cloud centralization. The browser became a thin client that does almost nothing except send an HTTP request to a remote server and wait. But consider what happens in a busy restaurant during peak dinner rush or a hospital emergency ward: if the Wi-Fi cable is kicked, or the local router experiences interference from microwave ovens and steel equipment, the round-trip latency jumps from 100ms to 3 seconds or crashes entirely. When a cashier cannot punch an order, the business stops. Our fundamental thesis is: Network connectivity must be treated as an opportunistic luxury, not an operational prerequisite."*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solve this, we invert the architecture. In a Local-First or Offline-First architecture, the primary copy of operational data lives directly on the client machine. When a user clicks a button, the transaction is committed into the browser's native transactional database—HTML5 IndexedDB—in less than half a millisecond. The user interface updates instantly at 120 frames per second. An independent, decoupled background worker then drains pending mutations asynchronously across the network to the central cloud. If the network is down for 5 minutes or 5 hours, the cashier experiences zero interruption."*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a computer science perspective, how do we justify this under the CAP theorem? Eric Brewer proved that during a network partition, you must choose between Consistency and Availability. Traditional cloud systems choose CP—they sacrifice availability by rejecting writes when disconnected. Offline-first systems deliberately choose AP—they guarantee availability and zero latency, accepting writes locally, and embracing Eventual Consistency. As Daniel Abadi formulated in the PACELC theorem, even when no partition exists, normal cloud operations force a trade-off between Latency and Consistency. By choosing local writes, we eliminate latency entirely."*</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fundamental question every distributed systems examiner asks: 'What happens when two offline nodes mutate state simultaneously?' In collaborative text editing like Google Docs, you use CRDTs—Conflict-Free Replicated Data Types. But in transactional financial applications, such as Point of Sale, we use deterministic Append-Only Operational Logs. An order for Table 4 does not conflict with an order for Table 8; they are separate operational events. By treating all transactions as immutable append-only records, we avoid destructive state collisions entirely."*</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distributed networks, transient packet drops cause the famous Two-Generals Problem. If the server successfully writes an order to disk, but the response packet gets dropped in the air, the client's background worker assumes failure and retries. To prevent charging a customer twice, we generate a cryptographically unique UUIDv4 idempotency key on the client at the exact microsecond of touch. The server stores incoming idempotency keys in an atomic cache. When the retry packet arrives, the server recognizes the key, suppresses duplicate execution, and returns the cached confirmation."*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practical 4-layer engineering implementation from our production platform. Layer 1 is Zustand in-memory state. Mutating JavaScript heap memory takes less than 50 microseconds. Layer 2 is Dexie.js, an IndexedDB wrapper that writes the transaction to the client's solid-state drive in 0.38 milliseconds. Layer 3 is our custom background reconciliation hook, which monitors network connectivity events. And Layer 4 is the FastAPI backend with asynchronous PostgreSQL 16 persistence."*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common misconception is that browsers cannot store large datasets. LocalStorage is indeed limited to 5 megabytes and blocks the main UI thread. However, HTML5 IndexedDB is fully asynchronous, supports B-tree indexing, and Chromium allocates up to 60% of total available hard drive space. Furthermore, by invoking the browser's StorageManager API—navigator.storage.persist()—we legally mark the local database as persistent, barring the operating system from auto-evicting records during low disk states."*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we ensure multi-tenant security in an offline distributed architecture? On the client terminal, local databases are dynamically namespaced per tenant. More crucially, on the central server, security is never trusted to client headers. The backend decodes the cryptographically signed JWT token, sets a PostgreSQL runtime configuration parameter, and relies on PostgreSQL Row-Level Security policies to mathematically prohibit any cross-tenant data access at the database engine level."*</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examine the empirical benchmark data. We executed 1,000 synthetic retail transactions comparing a traditional cloud-only architecture against our offline-first implementation. As shown in the table, median P50 local latency plummeted from 142 milliseconds down to 0.38 milliseconds—a 99.7% reduction in operational delay. Even at the 99th percentile, response time remained under 1 millisecond. When we physically disconnected the router for 30 minutes, the cloud-only system crashed with 100% failure, whereas the offline-first terminal processed 150 transactions with zero errors, synchronizing all records in 4.2 seconds upon reconnection."*</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validated this architecture in a real-world enterprise platform called SSR ONE AI. Beyond offline billing, the system couples local-first persistence with real-time WebSocket ticket broadcast to kitchen screens, asynchronous thermal receipt printing, and an auditable multi-agent AI Copilot. This proves that offline-first design is not merely a theoretical exercise, but an enterprise-ready foundation for commercial SaaS platforms."*</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forward, the frontier of local-first software is advancing rapidly. With WebAssembly, we can now compile full relational SQLite engines into browser tabs using the Origin Private File System. Furthermore, with WebGPU, we can execute quantized small language models locally on the user's graphics card, allowing AI-driven decision support even when operating completely severed from the cloud."*</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local-first computing bridges the gap between the speed of desktop software and the collaboration of the cloud. By decoupling local execution from remote persistence, we eliminate latency, survive network partitions, and provide users with a flawless, unbreakable digital experience."*</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foundational research papers and peer-reviewed literature that informed this seminar work."*</a:t>
            </a:r>
          </a:p>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valuable time and attention. I am now open to your questions, critiques, and discussion.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FF6FF"/>
          </a:solidFill>
          <a:ln>
            <a:solidFill>
              <a:srgbClr val="EFF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731520"/>
            <a:ext cx="10362895" cy="548640"/>
          </a:xfrm>
          <a:prstGeom prst="rect">
            <a:avLst/>
          </a:prstGeom>
          <a:noFill/>
        </p:spPr>
        <p:txBody>
          <a:bodyPr wrap="none">
            <a:spAutoFit/>
          </a:bodyPr>
          <a:lstStyle/>
          <a:p>
            <a:pPr algn="ctr">
              <a:defRPr sz="1500" b="1">
                <a:solidFill>
                  <a:srgbClr val="C58B3A"/>
                </a:solidFill>
              </a:defRPr>
            </a:pPr>
            <a:r>
              <a:t>JAGAT GURU NANAK DEV PUNJAB STATE OPEN UNIVERSITY, PATIALA</a:t>
            </a:r>
          </a:p>
        </p:txBody>
      </p:sp>
      <p:sp>
        <p:nvSpPr>
          <p:cNvPr id="4" name="TextBox 3"/>
          <p:cNvSpPr txBox="1"/>
          <p:nvPr/>
        </p:nvSpPr>
        <p:spPr>
          <a:xfrm>
            <a:off x="914400" y="1188720"/>
            <a:ext cx="10362895" cy="457200"/>
          </a:xfrm>
          <a:prstGeom prst="rect">
            <a:avLst/>
          </a:prstGeom>
          <a:noFill/>
        </p:spPr>
        <p:txBody>
          <a:bodyPr wrap="none">
            <a:spAutoFit/>
          </a:bodyPr>
          <a:lstStyle/>
          <a:p>
            <a:pPr algn="ctr">
              <a:defRPr sz="1200" b="1">
                <a:solidFill>
                  <a:srgbClr val="0F1E36"/>
                </a:solidFill>
              </a:defRPr>
            </a:pPr>
            <a:r>
              <a:t>DEPARTMENT OF COMPUTER SCIENCE &amp; APPLICATIONS | M.SC. (CS) SEMESTER-IV</a:t>
            </a:r>
          </a:p>
        </p:txBody>
      </p:sp>
      <p:sp>
        <p:nvSpPr>
          <p:cNvPr id="5" name="TextBox 4"/>
          <p:cNvSpPr txBox="1"/>
          <p:nvPr/>
        </p:nvSpPr>
        <p:spPr>
          <a:xfrm>
            <a:off x="1097280" y="2011680"/>
            <a:ext cx="9997135" cy="2011680"/>
          </a:xfrm>
          <a:prstGeom prst="rect">
            <a:avLst/>
          </a:prstGeom>
          <a:noFill/>
        </p:spPr>
        <p:txBody>
          <a:bodyPr wrap="square">
            <a:spAutoFit/>
          </a:bodyPr>
          <a:lstStyle/>
          <a:p>
            <a:pPr algn="ctr">
              <a:defRPr sz="2400" b="1">
                <a:solidFill>
                  <a:srgbClr val="0F1E36"/>
                </a:solidFill>
              </a:defRPr>
            </a:pPr>
            <a:r>
              <a:t>Architectural Patterns for Offline-First Distributed Web Applications: Balancing Zero-Latency User Experience with Eventual Consistency</a:t>
            </a:r>
          </a:p>
        </p:txBody>
      </p:sp>
      <p:sp>
        <p:nvSpPr>
          <p:cNvPr id="6" name="Rectangle 5"/>
          <p:cNvSpPr/>
          <p:nvPr/>
        </p:nvSpPr>
        <p:spPr>
          <a:xfrm>
            <a:off x="2286000" y="4297680"/>
            <a:ext cx="7619695" cy="173736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F1E36"/>
                </a:solidFill>
              </a:defRPr>
            </a:pPr>
            <a:r>
              <a:t>Candidate: Sumit Singh   |   Roll Number: PSOU/MSCS/2026/042</a:t>
            </a:r>
          </a:p>
          <a:p>
            <a:pPr algn="ctr">
              <a:defRPr sz="1200">
                <a:solidFill>
                  <a:srgbClr val="1E293B"/>
                </a:solidFill>
              </a:defRPr>
            </a:pPr>
            <a:r>
              <a:t>Faculty Supervisor: Dr. Harpreet Singh (Assistant Professor)</a:t>
            </a:r>
          </a:p>
          <a:p>
            <a:pPr algn="ctr">
              <a:defRPr sz="1100" b="1">
                <a:solidFill>
                  <a:srgbClr val="C58B3A"/>
                </a:solidFill>
              </a:defRPr>
            </a:pPr>
            <a:r>
              <a:t>Course: MSCS-4-04 (Seminar — 50 Marks)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9144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900" b="1">
                <a:solidFill>
                  <a:srgbClr val="0F1E36"/>
                </a:solidFill>
              </a:defRPr>
            </a:pPr>
            <a:r>
              <a:t>The Core Problem — Network Fragility &amp; Cloud Latency</a:t>
            </a:r>
          </a:p>
          <a:p>
            <a:pPr algn="l">
              <a:defRPr sz="900" b="1">
                <a:solidFill>
                  <a:srgbClr val="64748B"/>
                </a:solidFill>
              </a:defRPr>
            </a:pPr>
            <a:r>
              <a:t>JAGAT GURU NANAK DEV PUNJAB STATE OPEN UNIVERSITY, PATIALA | M.SC. (CS)</a:t>
            </a:r>
          </a:p>
        </p:txBody>
      </p:sp>
      <p:sp>
        <p:nvSpPr>
          <p:cNvPr id="4" name="Rectangle 3"/>
          <p:cNvSpPr/>
          <p:nvPr/>
        </p:nvSpPr>
        <p:spPr>
          <a:xfrm>
            <a:off x="731520" y="457200"/>
            <a:ext cx="137160" cy="914400"/>
          </a:xfrm>
          <a:prstGeom prst="rect">
            <a:avLst/>
          </a:prstGeom>
          <a:solidFill>
            <a:srgbClr val="C58B3A"/>
          </a:solidFill>
          <a:ln>
            <a:solidFill>
              <a:srgbClr val="C58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10728655" cy="46634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0"/>
              </a:spcAft>
              <a:defRPr sz="1300">
                <a:solidFill>
                  <a:srgbClr val="1E293B"/>
                </a:solidFill>
              </a:defRPr>
            </a:pPr>
            <a:r>
              <a:t>•   Visual Bullet Points:</a:t>
            </a:r>
          </a:p>
          <a:p>
            <a:pPr>
              <a:spcAft>
                <a:spcPts val="1000"/>
              </a:spcAft>
              <a:defRPr sz="1300">
                <a:solidFill>
                  <a:srgbClr val="1E293B"/>
                </a:solidFill>
              </a:defRPr>
            </a:pPr>
            <a:r>
              <a:t>•   The "Thin-Client / Thick-Server" Cloud Trap.</a:t>
            </a:r>
          </a:p>
          <a:p>
            <a:pPr>
              <a:spcAft>
                <a:spcPts val="1000"/>
              </a:spcAft>
              <a:defRPr sz="1300">
                <a:solidFill>
                  <a:srgbClr val="1E293B"/>
                </a:solidFill>
              </a:defRPr>
            </a:pPr>
            <a:r>
              <a:t>•   Every user interaction requires a synchronous round-trip HTTP request.</a:t>
            </a:r>
          </a:p>
          <a:p>
            <a:pPr>
              <a:spcAft>
                <a:spcPts val="1000"/>
              </a:spcAft>
              <a:defRPr sz="1300">
                <a:solidFill>
                  <a:srgbClr val="1E293B"/>
                </a:solidFill>
              </a:defRPr>
            </a:pPr>
            <a:r>
              <a:t>•   Network Reality: Packet loss, Wi-Fi interference in retail kitchens, cellar dead zones.</a:t>
            </a:r>
          </a:p>
          <a:p>
            <a:pPr>
              <a:spcAft>
                <a:spcPts val="1000"/>
              </a:spcAft>
              <a:defRPr sz="1300">
                <a:solidFill>
                  <a:srgbClr val="1E293B"/>
                </a:solidFill>
              </a:defRPr>
            </a:pPr>
            <a:r>
              <a:t>•   The Human Perception Barrier:</a:t>
            </a:r>
          </a:p>
          <a:p>
            <a:pPr>
              <a:spcAft>
                <a:spcPts val="1000"/>
              </a:spcAft>
              <a:defRPr sz="1300">
                <a:solidFill>
                  <a:srgbClr val="1E293B"/>
                </a:solidFill>
              </a:defRPr>
            </a:pPr>
            <a:r>
              <a:t>•   $&lt; 100\text{ms}$: Instantaneous.</a:t>
            </a:r>
          </a:p>
          <a:p>
            <a:pPr>
              <a:spcAft>
                <a:spcPts val="1000"/>
              </a:spcAft>
              <a:defRPr sz="1300">
                <a:solidFill>
                  <a:srgbClr val="1E293B"/>
                </a:solidFill>
              </a:defRPr>
            </a:pPr>
            <a:r>
              <a:t>•   $&gt; 300\text{ms}$: Perceptible delay.</a:t>
            </a:r>
          </a:p>
          <a:p>
            <a:pPr>
              <a:spcAft>
                <a:spcPts val="1000"/>
              </a:spcAft>
              <a:defRPr sz="1300">
                <a:solidFill>
                  <a:srgbClr val="1E293B"/>
                </a:solidFill>
              </a:defRPr>
            </a:pPr>
            <a:r>
              <a:t>•   $&gt; 1,000\text{ms}$: Complete disruption of operational flow.</a:t>
            </a:r>
          </a:p>
        </p:txBody>
      </p:sp>
      <p:sp>
        <p:nvSpPr>
          <p:cNvPr id="6" name="TextBox 5"/>
          <p:cNvSpPr txBox="1"/>
          <p:nvPr/>
        </p:nvSpPr>
        <p:spPr>
          <a:xfrm>
            <a:off x="731520" y="6309360"/>
            <a:ext cx="10728655" cy="365760"/>
          </a:xfrm>
          <a:prstGeom prst="rect">
            <a:avLst/>
          </a:prstGeom>
          <a:noFill/>
        </p:spPr>
        <p:txBody>
          <a:bodyPr wrap="none">
            <a:spAutoFit/>
          </a:bodyPr>
          <a:lstStyle/>
          <a:p>
            <a:pPr>
              <a:defRPr sz="900">
                <a:solidFill>
                  <a:srgbClr val="64748B"/>
                </a:solidFill>
              </a:defRPr>
            </a:pPr>
            <a:r>
              <a:t>Slide 2 of 16   |   Candidate: Sumit Singh (Roll No: PSOU/MSCS/2026/042)   |   JGND PSOU, Patiala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9144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900" b="1">
                <a:solidFill>
                  <a:srgbClr val="0F1E36"/>
                </a:solidFill>
              </a:defRPr>
            </a:pPr>
            <a:r>
              <a:t>The Architectural Paradigm Shift (Local-First)</a:t>
            </a:r>
          </a:p>
          <a:p>
            <a:pPr algn="l">
              <a:defRPr sz="900" b="1">
                <a:solidFill>
                  <a:srgbClr val="64748B"/>
                </a:solidFill>
              </a:defRPr>
            </a:pPr>
            <a:r>
              <a:t>JAGAT GURU NANAK DEV PUNJAB STATE OPEN UNIVERSITY, PATIALA | M.SC. (CS)</a:t>
            </a:r>
          </a:p>
        </p:txBody>
      </p:sp>
      <p:sp>
        <p:nvSpPr>
          <p:cNvPr id="4" name="Rectangle 3"/>
          <p:cNvSpPr/>
          <p:nvPr/>
        </p:nvSpPr>
        <p:spPr>
          <a:xfrm>
            <a:off x="731520" y="457200"/>
            <a:ext cx="137160" cy="914400"/>
          </a:xfrm>
          <a:prstGeom prst="rect">
            <a:avLst/>
          </a:prstGeom>
          <a:solidFill>
            <a:srgbClr val="C58B3A"/>
          </a:solidFill>
          <a:ln>
            <a:solidFill>
              <a:srgbClr val="C58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10728655" cy="46634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0"/>
              </a:spcAft>
              <a:defRPr sz="1300">
                <a:solidFill>
                  <a:srgbClr val="1E293B"/>
                </a:solidFill>
              </a:defRPr>
            </a:pPr>
            <a:r>
              <a:t>•   Visual Diagram:</a:t>
            </a:r>
          </a:p>
          <a:p>
            <a:pPr>
              <a:spcAft>
                <a:spcPts val="1000"/>
              </a:spcAft>
              <a:defRPr sz="1300">
                <a:solidFill>
                  <a:srgbClr val="1E293B"/>
                </a:solidFill>
              </a:defRPr>
            </a:pPr>
            <a:r>
              <a:t>•   *Traditional Cloud*: UI ➡️ Network Wire (Slow &amp; Fragile) ➡️ Remote Database</a:t>
            </a:r>
          </a:p>
          <a:p>
            <a:pPr>
              <a:spcAft>
                <a:spcPts val="1000"/>
              </a:spcAft>
              <a:defRPr sz="1300">
                <a:solidFill>
                  <a:srgbClr val="1E293B"/>
                </a:solidFill>
              </a:defRPr>
            </a:pPr>
            <a:r>
              <a:t>•   *Local-First*: UI ➡️ Local Storage Engine (0.3ms In-Memory / IndexedDB) ➡️ Background Worker ➡️ Remote Cloud</a:t>
            </a:r>
          </a:p>
        </p:txBody>
      </p:sp>
      <p:sp>
        <p:nvSpPr>
          <p:cNvPr id="6" name="TextBox 5"/>
          <p:cNvSpPr txBox="1"/>
          <p:nvPr/>
        </p:nvSpPr>
        <p:spPr>
          <a:xfrm>
            <a:off x="731520" y="6309360"/>
            <a:ext cx="10728655" cy="365760"/>
          </a:xfrm>
          <a:prstGeom prst="rect">
            <a:avLst/>
          </a:prstGeom>
          <a:noFill/>
        </p:spPr>
        <p:txBody>
          <a:bodyPr wrap="none">
            <a:spAutoFit/>
          </a:bodyPr>
          <a:lstStyle/>
          <a:p>
            <a:pPr>
              <a:defRPr sz="900">
                <a:solidFill>
                  <a:srgbClr val="64748B"/>
                </a:solidFill>
              </a:defRPr>
            </a:pPr>
            <a:r>
              <a:t>Slide 3 of 16   |   Candidate: Sumit Singh (Roll No: PSOU/MSCS/2026/042)   |   JGND PSOU, Patiala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9144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900" b="1">
                <a:solidFill>
                  <a:srgbClr val="0F1E36"/>
                </a:solidFill>
              </a:defRPr>
            </a:pPr>
            <a:r>
              <a:t>Theoretical Foundations — CAP &amp; PACELC Theorems</a:t>
            </a:r>
          </a:p>
          <a:p>
            <a:pPr algn="l">
              <a:defRPr sz="900" b="1">
                <a:solidFill>
                  <a:srgbClr val="64748B"/>
                </a:solidFill>
              </a:defRPr>
            </a:pPr>
            <a:r>
              <a:t>JAGAT GURU NANAK DEV PUNJAB STATE OPEN UNIVERSITY, PATIALA | M.SC. (CS)</a:t>
            </a:r>
          </a:p>
        </p:txBody>
      </p:sp>
      <p:sp>
        <p:nvSpPr>
          <p:cNvPr id="4" name="Rectangle 3"/>
          <p:cNvSpPr/>
          <p:nvPr/>
        </p:nvSpPr>
        <p:spPr>
          <a:xfrm>
            <a:off x="731520" y="457200"/>
            <a:ext cx="137160" cy="914400"/>
          </a:xfrm>
          <a:prstGeom prst="rect">
            <a:avLst/>
          </a:prstGeom>
          <a:solidFill>
            <a:srgbClr val="C58B3A"/>
          </a:solidFill>
          <a:ln>
            <a:solidFill>
              <a:srgbClr val="C58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10728655" cy="46634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0"/>
              </a:spcAft>
              <a:defRPr sz="1300">
                <a:solidFill>
                  <a:srgbClr val="1E293B"/>
                </a:solidFill>
              </a:defRPr>
            </a:pPr>
            <a:r>
              <a:t>•   Visual Mathematical Formulas:</a:t>
            </a:r>
          </a:p>
          <a:p>
            <a:pPr>
              <a:spcAft>
                <a:spcPts val="1000"/>
              </a:spcAft>
              <a:defRPr sz="1300">
                <a:solidFill>
                  <a:srgbClr val="1E293B"/>
                </a:solidFill>
              </a:defRPr>
            </a:pPr>
            <a:r>
              <a:t>•   CAP Theorem (Brewer, 2012): Consistency ($C$), Availability ($A$), Partition Tolerance ($P$).</a:t>
            </a:r>
          </a:p>
          <a:p>
            <a:pPr>
              <a:spcAft>
                <a:spcPts val="1000"/>
              </a:spcAft>
              <a:defRPr sz="1300">
                <a:solidFill>
                  <a:srgbClr val="1E293B"/>
                </a:solidFill>
              </a:defRPr>
            </a:pPr>
            <a:r>
              <a:t>•   Network partitions ($P$) are a physical inevitability $\implies$ Choice between $CP$ and $AP$.</a:t>
            </a:r>
          </a:p>
          <a:p>
            <a:pPr>
              <a:spcAft>
                <a:spcPts val="1000"/>
              </a:spcAft>
              <a:defRPr sz="1300">
                <a:solidFill>
                  <a:srgbClr val="1E293B"/>
                </a:solidFill>
              </a:defRPr>
            </a:pPr>
            <a:r>
              <a:t>•   PACELC Extension (Abadi, 2012):</a:t>
            </a:r>
          </a:p>
        </p:txBody>
      </p:sp>
      <p:sp>
        <p:nvSpPr>
          <p:cNvPr id="6" name="TextBox 5"/>
          <p:cNvSpPr txBox="1"/>
          <p:nvPr/>
        </p:nvSpPr>
        <p:spPr>
          <a:xfrm>
            <a:off x="731520" y="6309360"/>
            <a:ext cx="10728655" cy="365760"/>
          </a:xfrm>
          <a:prstGeom prst="rect">
            <a:avLst/>
          </a:prstGeom>
          <a:noFill/>
        </p:spPr>
        <p:txBody>
          <a:bodyPr wrap="none">
            <a:spAutoFit/>
          </a:bodyPr>
          <a:lstStyle/>
          <a:p>
            <a:pPr>
              <a:defRPr sz="900">
                <a:solidFill>
                  <a:srgbClr val="64748B"/>
                </a:solidFill>
              </a:defRPr>
            </a:pPr>
            <a:r>
              <a:t>Slide 4 of 16   |   Candidate: Sumit Singh (Roll No: PSOU/MSCS/2026/042)   |   JGND PSOU, Patiala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9144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900" b="1">
                <a:solidFill>
                  <a:srgbClr val="0F1E36"/>
                </a:solidFill>
              </a:defRPr>
            </a:pPr>
            <a:r>
              <a:t>The Challenge of Eventual Consistency &amp; Conflicts</a:t>
            </a:r>
          </a:p>
          <a:p>
            <a:pPr algn="l">
              <a:defRPr sz="900" b="1">
                <a:solidFill>
                  <a:srgbClr val="64748B"/>
                </a:solidFill>
              </a:defRPr>
            </a:pPr>
            <a:r>
              <a:t>JAGAT GURU NANAK DEV PUNJAB STATE OPEN UNIVERSITY, PATIALA | M.SC. (CS)</a:t>
            </a:r>
          </a:p>
        </p:txBody>
      </p:sp>
      <p:sp>
        <p:nvSpPr>
          <p:cNvPr id="4" name="Rectangle 3"/>
          <p:cNvSpPr/>
          <p:nvPr/>
        </p:nvSpPr>
        <p:spPr>
          <a:xfrm>
            <a:off x="731520" y="457200"/>
            <a:ext cx="137160" cy="914400"/>
          </a:xfrm>
          <a:prstGeom prst="rect">
            <a:avLst/>
          </a:prstGeom>
          <a:solidFill>
            <a:srgbClr val="C58B3A"/>
          </a:solidFill>
          <a:ln>
            <a:solidFill>
              <a:srgbClr val="C58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10728655" cy="46634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0"/>
              </a:spcAft>
              <a:defRPr sz="1300">
                <a:solidFill>
                  <a:srgbClr val="1E293B"/>
                </a:solidFill>
              </a:defRPr>
            </a:pPr>
            <a:r>
              <a:t>•   Visual Comparison Table:</a:t>
            </a:r>
          </a:p>
          <a:p>
            <a:pPr>
              <a:spcAft>
                <a:spcPts val="1000"/>
              </a:spcAft>
              <a:defRPr sz="1300">
                <a:solidFill>
                  <a:srgbClr val="1E293B"/>
                </a:solidFill>
              </a:defRPr>
            </a:pPr>
            <a:r>
              <a:t>•   *Last-Write-Wins (LWW)*: Clock-skew risks, silent overwrites.</a:t>
            </a:r>
          </a:p>
          <a:p>
            <a:pPr>
              <a:spcAft>
                <a:spcPts val="1000"/>
              </a:spcAft>
              <a:defRPr sz="1300">
                <a:solidFill>
                  <a:srgbClr val="1E293B"/>
                </a:solidFill>
              </a:defRPr>
            </a:pPr>
            <a:r>
              <a:t>•   *Conflict-Free Replicated Data Types (CRDTs)*: Mathematical commutativity, high memory.</a:t>
            </a:r>
          </a:p>
          <a:p>
            <a:pPr>
              <a:spcAft>
                <a:spcPts val="1000"/>
              </a:spcAft>
              <a:defRPr sz="1300">
                <a:solidFill>
                  <a:srgbClr val="1E293B"/>
                </a:solidFill>
              </a:defRPr>
            </a:pPr>
            <a:r>
              <a:t>•   *Append-Only Operational Logs*: Deterministic event streaming, zero-conflict financial safety.</a:t>
            </a:r>
          </a:p>
        </p:txBody>
      </p:sp>
      <p:sp>
        <p:nvSpPr>
          <p:cNvPr id="6" name="TextBox 5"/>
          <p:cNvSpPr txBox="1"/>
          <p:nvPr/>
        </p:nvSpPr>
        <p:spPr>
          <a:xfrm>
            <a:off x="731520" y="6309360"/>
            <a:ext cx="10728655" cy="365760"/>
          </a:xfrm>
          <a:prstGeom prst="rect">
            <a:avLst/>
          </a:prstGeom>
          <a:noFill/>
        </p:spPr>
        <p:txBody>
          <a:bodyPr wrap="none">
            <a:spAutoFit/>
          </a:bodyPr>
          <a:lstStyle/>
          <a:p>
            <a:pPr>
              <a:defRPr sz="900">
                <a:solidFill>
                  <a:srgbClr val="64748B"/>
                </a:solidFill>
              </a:defRPr>
            </a:pPr>
            <a:r>
              <a:t>Slide 5 of 16   |   Candidate: Sumit Singh (Roll No: PSOU/MSCS/2026/042)   |   JGND PSOU, Patiala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9144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900" b="1">
                <a:solidFill>
                  <a:srgbClr val="0F1E36"/>
                </a:solidFill>
              </a:defRPr>
            </a:pPr>
            <a:r>
              <a:t>The Two-Generals Problem &amp; Idempotency Tokens</a:t>
            </a:r>
          </a:p>
          <a:p>
            <a:pPr algn="l">
              <a:defRPr sz="900" b="1">
                <a:solidFill>
                  <a:srgbClr val="64748B"/>
                </a:solidFill>
              </a:defRPr>
            </a:pPr>
            <a:r>
              <a:t>JAGAT GURU NANAK DEV PUNJAB STATE OPEN UNIVERSITY, PATIALA | M.SC. (CS)</a:t>
            </a:r>
          </a:p>
        </p:txBody>
      </p:sp>
      <p:sp>
        <p:nvSpPr>
          <p:cNvPr id="4" name="Rectangle 3"/>
          <p:cNvSpPr/>
          <p:nvPr/>
        </p:nvSpPr>
        <p:spPr>
          <a:xfrm>
            <a:off x="731520" y="457200"/>
            <a:ext cx="137160" cy="914400"/>
          </a:xfrm>
          <a:prstGeom prst="rect">
            <a:avLst/>
          </a:prstGeom>
          <a:solidFill>
            <a:srgbClr val="C58B3A"/>
          </a:solidFill>
          <a:ln>
            <a:solidFill>
              <a:srgbClr val="C58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10728655" cy="46634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0"/>
              </a:spcAft>
              <a:defRPr sz="1300">
                <a:solidFill>
                  <a:srgbClr val="1E293B"/>
                </a:solidFill>
              </a:defRPr>
            </a:pPr>
            <a:r>
              <a:t>•   Visual Attack Scenario:</a:t>
            </a:r>
          </a:p>
          <a:p>
            <a:pPr>
              <a:spcAft>
                <a:spcPts val="1000"/>
              </a:spcAft>
              <a:defRPr sz="1300">
                <a:solidFill>
                  <a:srgbClr val="1E293B"/>
                </a:solidFill>
              </a:defRPr>
            </a:pPr>
            <a:r>
              <a:t>•   Client sends Order #1 ➡️ Server inserts into DB ➡️ Network drops before ACK ➡️ Client retries Order #1 ➡️ Double Charge!</a:t>
            </a:r>
          </a:p>
          <a:p>
            <a:pPr>
              <a:spcAft>
                <a:spcPts val="1000"/>
              </a:spcAft>
              <a:defRPr sz="1300">
                <a:solidFill>
                  <a:srgbClr val="1E293B"/>
                </a:solidFill>
              </a:defRPr>
            </a:pPr>
            <a:r>
              <a:t>•   The Defense: Cryptographic RFC4122 UUIDv4 Idempotency Key.</a:t>
            </a:r>
          </a:p>
        </p:txBody>
      </p:sp>
      <p:sp>
        <p:nvSpPr>
          <p:cNvPr id="6" name="TextBox 5"/>
          <p:cNvSpPr txBox="1"/>
          <p:nvPr/>
        </p:nvSpPr>
        <p:spPr>
          <a:xfrm>
            <a:off x="731520" y="6309360"/>
            <a:ext cx="10728655" cy="365760"/>
          </a:xfrm>
          <a:prstGeom prst="rect">
            <a:avLst/>
          </a:prstGeom>
          <a:noFill/>
        </p:spPr>
        <p:txBody>
          <a:bodyPr wrap="none">
            <a:spAutoFit/>
          </a:bodyPr>
          <a:lstStyle/>
          <a:p>
            <a:pPr>
              <a:defRPr sz="900">
                <a:solidFill>
                  <a:srgbClr val="64748B"/>
                </a:solidFill>
              </a:defRPr>
            </a:pPr>
            <a:r>
              <a:t>Slide 6 of 16   |   Candidate: Sumit Singh (Roll No: PSOU/MSCS/2026/042)   |   JGND PSOU, Patiala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9144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900" b="1">
                <a:solidFill>
                  <a:srgbClr val="0F1E36"/>
                </a:solidFill>
              </a:defRPr>
            </a:pPr>
            <a:r>
              <a:t>Engineering Anatomy of the Offline Pipeline</a:t>
            </a:r>
          </a:p>
          <a:p>
            <a:pPr algn="l">
              <a:defRPr sz="900" b="1">
                <a:solidFill>
                  <a:srgbClr val="64748B"/>
                </a:solidFill>
              </a:defRPr>
            </a:pPr>
            <a:r>
              <a:t>JAGAT GURU NANAK DEV PUNJAB STATE OPEN UNIVERSITY, PATIALA | M.SC. (CS)</a:t>
            </a:r>
          </a:p>
        </p:txBody>
      </p:sp>
      <p:sp>
        <p:nvSpPr>
          <p:cNvPr id="4" name="Rectangle 3"/>
          <p:cNvSpPr/>
          <p:nvPr/>
        </p:nvSpPr>
        <p:spPr>
          <a:xfrm>
            <a:off x="731520" y="457200"/>
            <a:ext cx="137160" cy="914400"/>
          </a:xfrm>
          <a:prstGeom prst="rect">
            <a:avLst/>
          </a:prstGeom>
          <a:solidFill>
            <a:srgbClr val="C58B3A"/>
          </a:solidFill>
          <a:ln>
            <a:solidFill>
              <a:srgbClr val="C58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10728655" cy="46634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0"/>
              </a:spcAft>
              <a:defRPr sz="1300">
                <a:solidFill>
                  <a:srgbClr val="1E293B"/>
                </a:solidFill>
              </a:defRPr>
            </a:pPr>
            <a:r>
              <a:t>•   Visual Layer Stack:</a:t>
            </a:r>
          </a:p>
        </p:txBody>
      </p:sp>
      <p:sp>
        <p:nvSpPr>
          <p:cNvPr id="6" name="TextBox 5"/>
          <p:cNvSpPr txBox="1"/>
          <p:nvPr/>
        </p:nvSpPr>
        <p:spPr>
          <a:xfrm>
            <a:off x="731520" y="6309360"/>
            <a:ext cx="10728655" cy="365760"/>
          </a:xfrm>
          <a:prstGeom prst="rect">
            <a:avLst/>
          </a:prstGeom>
          <a:noFill/>
        </p:spPr>
        <p:txBody>
          <a:bodyPr wrap="none">
            <a:spAutoFit/>
          </a:bodyPr>
          <a:lstStyle/>
          <a:p>
            <a:pPr>
              <a:defRPr sz="900">
                <a:solidFill>
                  <a:srgbClr val="64748B"/>
                </a:solidFill>
              </a:defRPr>
            </a:pPr>
            <a:r>
              <a:t>Slide 7 of 16   |   Candidate: Sumit Singh (Roll No: PSOU/MSCS/2026/042)   |   JGND PSOU, Patiala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9144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900" b="1">
                <a:solidFill>
                  <a:srgbClr val="0F1E36"/>
                </a:solidFill>
              </a:defRPr>
            </a:pPr>
            <a:r>
              <a:t>Browser Storage Internals &amp; Quota Governance</a:t>
            </a:r>
          </a:p>
          <a:p>
            <a:pPr algn="l">
              <a:defRPr sz="900" b="1">
                <a:solidFill>
                  <a:srgbClr val="64748B"/>
                </a:solidFill>
              </a:defRPr>
            </a:pPr>
            <a:r>
              <a:t>JAGAT GURU NANAK DEV PUNJAB STATE OPEN UNIVERSITY, PATIALA | M.SC. (CS)</a:t>
            </a:r>
          </a:p>
        </p:txBody>
      </p:sp>
      <p:sp>
        <p:nvSpPr>
          <p:cNvPr id="4" name="Rectangle 3"/>
          <p:cNvSpPr/>
          <p:nvPr/>
        </p:nvSpPr>
        <p:spPr>
          <a:xfrm>
            <a:off x="731520" y="457200"/>
            <a:ext cx="137160" cy="914400"/>
          </a:xfrm>
          <a:prstGeom prst="rect">
            <a:avLst/>
          </a:prstGeom>
          <a:solidFill>
            <a:srgbClr val="C58B3A"/>
          </a:solidFill>
          <a:ln>
            <a:solidFill>
              <a:srgbClr val="C58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10728655" cy="46634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0"/>
              </a:spcAft>
              <a:defRPr sz="1300">
                <a:solidFill>
                  <a:srgbClr val="1E293B"/>
                </a:solidFill>
              </a:defRPr>
            </a:pPr>
            <a:r>
              <a:t>•   Visual Key Points:</a:t>
            </a:r>
          </a:p>
          <a:p>
            <a:pPr>
              <a:spcAft>
                <a:spcPts val="1000"/>
              </a:spcAft>
              <a:defRPr sz="1300">
                <a:solidFill>
                  <a:srgbClr val="1E293B"/>
                </a:solidFill>
              </a:defRPr>
            </a:pPr>
            <a:r>
              <a:t>•   IndexedDB vs WebStorage (LocalStorage is synchronous and capped at 5MB; IndexedDB is asynchronous, indexed, and supports gigabytes).</a:t>
            </a:r>
          </a:p>
          <a:p>
            <a:pPr>
              <a:spcAft>
                <a:spcPts val="1000"/>
              </a:spcAft>
              <a:defRPr sz="1300">
                <a:solidFill>
                  <a:srgbClr val="1E293B"/>
                </a:solidFill>
              </a:defRPr>
            </a:pPr>
            <a:r>
              <a:t>•   Storage Eviction Defense: navigator.storage.persist().</a:t>
            </a:r>
          </a:p>
          <a:p>
            <a:pPr>
              <a:spcAft>
                <a:spcPts val="1000"/>
              </a:spcAft>
              <a:defRPr sz="1300">
                <a:solidFill>
                  <a:srgbClr val="1E293B"/>
                </a:solidFill>
              </a:defRPr>
            </a:pPr>
            <a:r>
              <a:t>•   Browser grants up to 60% of free hard drive space.</a:t>
            </a:r>
          </a:p>
        </p:txBody>
      </p:sp>
      <p:sp>
        <p:nvSpPr>
          <p:cNvPr id="6" name="TextBox 5"/>
          <p:cNvSpPr txBox="1"/>
          <p:nvPr/>
        </p:nvSpPr>
        <p:spPr>
          <a:xfrm>
            <a:off x="731520" y="6309360"/>
            <a:ext cx="10728655" cy="365760"/>
          </a:xfrm>
          <a:prstGeom prst="rect">
            <a:avLst/>
          </a:prstGeom>
          <a:noFill/>
        </p:spPr>
        <p:txBody>
          <a:bodyPr wrap="none">
            <a:spAutoFit/>
          </a:bodyPr>
          <a:lstStyle/>
          <a:p>
            <a:pPr>
              <a:defRPr sz="900">
                <a:solidFill>
                  <a:srgbClr val="64748B"/>
                </a:solidFill>
              </a:defRPr>
            </a:pPr>
            <a:r>
              <a:t>Slide 8 of 16   |   Candidate: Sumit Singh (Roll No: PSOU/MSCS/2026/042)   |   JGND PSOU, Patiala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9144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900" b="1">
                <a:solidFill>
                  <a:srgbClr val="0F1E36"/>
                </a:solidFill>
              </a:defRPr>
            </a:pPr>
            <a:r>
              <a:t>Multi-Tenant Security at the Edge &amp; Database Kernel</a:t>
            </a:r>
          </a:p>
          <a:p>
            <a:pPr algn="l">
              <a:defRPr sz="900" b="1">
                <a:solidFill>
                  <a:srgbClr val="64748B"/>
                </a:solidFill>
              </a:defRPr>
            </a:pPr>
            <a:r>
              <a:t>JAGAT GURU NANAK DEV PUNJAB STATE OPEN UNIVERSITY, PATIALA | M.SC. (CS)</a:t>
            </a:r>
          </a:p>
        </p:txBody>
      </p:sp>
      <p:sp>
        <p:nvSpPr>
          <p:cNvPr id="4" name="Rectangle 3"/>
          <p:cNvSpPr/>
          <p:nvPr/>
        </p:nvSpPr>
        <p:spPr>
          <a:xfrm>
            <a:off x="731520" y="457200"/>
            <a:ext cx="137160" cy="914400"/>
          </a:xfrm>
          <a:prstGeom prst="rect">
            <a:avLst/>
          </a:prstGeom>
          <a:solidFill>
            <a:srgbClr val="C58B3A"/>
          </a:solidFill>
          <a:ln>
            <a:solidFill>
              <a:srgbClr val="C58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10728655" cy="46634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0"/>
              </a:spcAft>
              <a:defRPr sz="1300">
                <a:solidFill>
                  <a:srgbClr val="1E293B"/>
                </a:solidFill>
              </a:defRPr>
            </a:pPr>
            <a:r>
              <a:t>•   Visual Security Architecture:</a:t>
            </a:r>
          </a:p>
          <a:p>
            <a:pPr>
              <a:spcAft>
                <a:spcPts val="1000"/>
              </a:spcAft>
              <a:defRPr sz="1300">
                <a:solidFill>
                  <a:srgbClr val="1E293B"/>
                </a:solidFill>
              </a:defRPr>
            </a:pPr>
            <a:r>
              <a:t>•   Client Namespacing: SSRONE_POS_${tenant_id} IndexedDB isolation.</a:t>
            </a:r>
          </a:p>
          <a:p>
            <a:pPr>
              <a:spcAft>
                <a:spcPts val="1000"/>
              </a:spcAft>
              <a:defRPr sz="1300">
                <a:solidFill>
                  <a:srgbClr val="1E293B"/>
                </a:solidFill>
              </a:defRPr>
            </a:pPr>
            <a:r>
              <a:t>•   Server-Side RLS: PostgreSQL Row-Level Security (app.current_tenant_id).</a:t>
            </a:r>
          </a:p>
          <a:p>
            <a:pPr>
              <a:spcAft>
                <a:spcPts val="1000"/>
              </a:spcAft>
              <a:defRPr sz="1300">
                <a:solidFill>
                  <a:srgbClr val="1E293B"/>
                </a:solidFill>
              </a:defRPr>
            </a:pPr>
            <a:r>
              <a:t>•   Cryptographic JWT Claim Verification.</a:t>
            </a:r>
          </a:p>
        </p:txBody>
      </p:sp>
      <p:sp>
        <p:nvSpPr>
          <p:cNvPr id="6" name="TextBox 5"/>
          <p:cNvSpPr txBox="1"/>
          <p:nvPr/>
        </p:nvSpPr>
        <p:spPr>
          <a:xfrm>
            <a:off x="731520" y="6309360"/>
            <a:ext cx="10728655" cy="365760"/>
          </a:xfrm>
          <a:prstGeom prst="rect">
            <a:avLst/>
          </a:prstGeom>
          <a:noFill/>
        </p:spPr>
        <p:txBody>
          <a:bodyPr wrap="none">
            <a:spAutoFit/>
          </a:bodyPr>
          <a:lstStyle/>
          <a:p>
            <a:pPr>
              <a:defRPr sz="900">
                <a:solidFill>
                  <a:srgbClr val="64748B"/>
                </a:solidFill>
              </a:defRPr>
            </a:pPr>
            <a:r>
              <a:t>Slide 9 of 16   |   Candidate: Sumit Singh (Roll No: PSOU/MSCS/2026/042)   |   JGND PSOU, Patiala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9144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900" b="1">
                <a:solidFill>
                  <a:srgbClr val="0F1E36"/>
                </a:solidFill>
              </a:defRPr>
            </a:pPr>
            <a:r>
              <a:t>Empirical Benchmarks &amp; Performance Results</a:t>
            </a:r>
          </a:p>
          <a:p>
            <a:pPr algn="l">
              <a:defRPr sz="900" b="1">
                <a:solidFill>
                  <a:srgbClr val="64748B"/>
                </a:solidFill>
              </a:defRPr>
            </a:pPr>
            <a:r>
              <a:t>JAGAT GURU NANAK DEV PUNJAB STATE OPEN UNIVERSITY, PATIALA | M.SC. (CS)</a:t>
            </a:r>
          </a:p>
        </p:txBody>
      </p:sp>
      <p:sp>
        <p:nvSpPr>
          <p:cNvPr id="4" name="Rectangle 3"/>
          <p:cNvSpPr/>
          <p:nvPr/>
        </p:nvSpPr>
        <p:spPr>
          <a:xfrm>
            <a:off x="731520" y="457200"/>
            <a:ext cx="137160" cy="914400"/>
          </a:xfrm>
          <a:prstGeom prst="rect">
            <a:avLst/>
          </a:prstGeom>
          <a:solidFill>
            <a:srgbClr val="C58B3A"/>
          </a:solidFill>
          <a:ln>
            <a:solidFill>
              <a:srgbClr val="C58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10728655" cy="46634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0"/>
              </a:spcAft>
              <a:defRPr sz="1300">
                <a:solidFill>
                  <a:srgbClr val="1E293B"/>
                </a:solidFill>
              </a:defRPr>
            </a:pPr>
            <a:r>
              <a:t>•   Visual Chart / Table:</a:t>
            </a:r>
          </a:p>
          <a:p>
            <a:pPr>
              <a:spcAft>
                <a:spcPts val="1000"/>
              </a:spcAft>
              <a:defRPr sz="1300">
                <a:solidFill>
                  <a:srgbClr val="1E293B"/>
                </a:solidFill>
              </a:defRPr>
            </a:pPr>
            <a:r>
              <a:t>•   P50 Latency: Cloud-Only = 142.3 ms | Offline-First = 0.38 ms (99.7% Faster).</a:t>
            </a:r>
          </a:p>
          <a:p>
            <a:pPr>
              <a:spcAft>
                <a:spcPts val="1000"/>
              </a:spcAft>
              <a:defRPr sz="1300">
                <a:solidFill>
                  <a:srgbClr val="1E293B"/>
                </a:solidFill>
              </a:defRPr>
            </a:pPr>
            <a:r>
              <a:t>•   P99 Latency: Cloud-Only = 1,420 ms | Offline-First = 0.89 ms.</a:t>
            </a:r>
          </a:p>
          <a:p>
            <a:pPr>
              <a:spcAft>
                <a:spcPts val="1000"/>
              </a:spcAft>
              <a:defRPr sz="1300">
                <a:solidFill>
                  <a:srgbClr val="1E293B"/>
                </a:solidFill>
              </a:defRPr>
            </a:pPr>
            <a:r>
              <a:t>•   Offline Resilience: Cloud-Only = 0% Success | Offline-First = 100% Operational.</a:t>
            </a:r>
          </a:p>
        </p:txBody>
      </p:sp>
      <p:sp>
        <p:nvSpPr>
          <p:cNvPr id="6" name="TextBox 5"/>
          <p:cNvSpPr txBox="1"/>
          <p:nvPr/>
        </p:nvSpPr>
        <p:spPr>
          <a:xfrm>
            <a:off x="731520" y="6309360"/>
            <a:ext cx="10728655" cy="365760"/>
          </a:xfrm>
          <a:prstGeom prst="rect">
            <a:avLst/>
          </a:prstGeom>
          <a:noFill/>
        </p:spPr>
        <p:txBody>
          <a:bodyPr wrap="none">
            <a:spAutoFit/>
          </a:bodyPr>
          <a:lstStyle/>
          <a:p>
            <a:pPr>
              <a:defRPr sz="900">
                <a:solidFill>
                  <a:srgbClr val="64748B"/>
                </a:solidFill>
              </a:defRPr>
            </a:pPr>
            <a:r>
              <a:t>Slide 10 of 16   |   Candidate: Sumit Singh (Roll No: PSOU/MSCS/2026/042)   |   JGND PSOU, Patiala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9144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900" b="1">
                <a:solidFill>
                  <a:srgbClr val="0F1E36"/>
                </a:solidFill>
              </a:defRPr>
            </a:pPr>
            <a:r>
              <a:t>Real-World Case Study — SSR ONE AI Enterprise POS</a:t>
            </a:r>
          </a:p>
          <a:p>
            <a:pPr algn="l">
              <a:defRPr sz="900" b="1">
                <a:solidFill>
                  <a:srgbClr val="64748B"/>
                </a:solidFill>
              </a:defRPr>
            </a:pPr>
            <a:r>
              <a:t>JAGAT GURU NANAK DEV PUNJAB STATE OPEN UNIVERSITY, PATIALA | M.SC. (CS)</a:t>
            </a:r>
          </a:p>
        </p:txBody>
      </p:sp>
      <p:sp>
        <p:nvSpPr>
          <p:cNvPr id="4" name="Rectangle 3"/>
          <p:cNvSpPr/>
          <p:nvPr/>
        </p:nvSpPr>
        <p:spPr>
          <a:xfrm>
            <a:off x="731520" y="457200"/>
            <a:ext cx="137160" cy="914400"/>
          </a:xfrm>
          <a:prstGeom prst="rect">
            <a:avLst/>
          </a:prstGeom>
          <a:solidFill>
            <a:srgbClr val="C58B3A"/>
          </a:solidFill>
          <a:ln>
            <a:solidFill>
              <a:srgbClr val="C58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10728655" cy="46634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0"/>
              </a:spcAft>
              <a:defRPr sz="1300">
                <a:solidFill>
                  <a:srgbClr val="1E293B"/>
                </a:solidFill>
              </a:defRPr>
            </a:pPr>
            <a:r>
              <a:t>•   Visual Screenshots &amp; Features:</a:t>
            </a:r>
          </a:p>
          <a:p>
            <a:pPr>
              <a:spcAft>
                <a:spcPts val="1000"/>
              </a:spcAft>
              <a:defRPr sz="1300">
                <a:solidFill>
                  <a:srgbClr val="1E293B"/>
                </a:solidFill>
              </a:defRPr>
            </a:pPr>
            <a:r>
              <a:t>•   Multi-station kitchen routing over WebSockets ($&lt; 25\text{ms}$).</a:t>
            </a:r>
          </a:p>
          <a:p>
            <a:pPr>
              <a:spcAft>
                <a:spcPts val="1000"/>
              </a:spcAft>
              <a:defRPr sz="1300">
                <a:solidFill>
                  <a:srgbClr val="1E293B"/>
                </a:solidFill>
              </a:defRPr>
            </a:pPr>
            <a:r>
              <a:t>•   Decoupled asynchronous ESC/POS thermal printing queue.</a:t>
            </a:r>
          </a:p>
          <a:p>
            <a:pPr>
              <a:spcAft>
                <a:spcPts val="1000"/>
              </a:spcAft>
              <a:defRPr sz="1300">
                <a:solidFill>
                  <a:srgbClr val="1E293B"/>
                </a:solidFill>
              </a:defRPr>
            </a:pPr>
            <a:r>
              <a:t>•   Integrated multi-agent AI Copilot and localized Tesseract OCR.</a:t>
            </a:r>
          </a:p>
        </p:txBody>
      </p:sp>
      <p:sp>
        <p:nvSpPr>
          <p:cNvPr id="6" name="TextBox 5"/>
          <p:cNvSpPr txBox="1"/>
          <p:nvPr/>
        </p:nvSpPr>
        <p:spPr>
          <a:xfrm>
            <a:off x="731520" y="6309360"/>
            <a:ext cx="10728655" cy="365760"/>
          </a:xfrm>
          <a:prstGeom prst="rect">
            <a:avLst/>
          </a:prstGeom>
          <a:noFill/>
        </p:spPr>
        <p:txBody>
          <a:bodyPr wrap="none">
            <a:spAutoFit/>
          </a:bodyPr>
          <a:lstStyle/>
          <a:p>
            <a:pPr>
              <a:defRPr sz="900">
                <a:solidFill>
                  <a:srgbClr val="64748B"/>
                </a:solidFill>
              </a:defRPr>
            </a:pPr>
            <a:r>
              <a:t>Slide 11 of 16   |   Candidate: Sumit Singh (Roll No: PSOU/MSCS/2026/042)   |   JGND PSOU, Patiala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9144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900" b="1">
                <a:solidFill>
                  <a:srgbClr val="0F1E36"/>
                </a:solidFill>
              </a:defRPr>
            </a:pPr>
            <a:r>
              <a:t>Emerging Frontiers — WebAssembly &amp; Edge AI</a:t>
            </a:r>
          </a:p>
          <a:p>
            <a:pPr algn="l">
              <a:defRPr sz="900" b="1">
                <a:solidFill>
                  <a:srgbClr val="64748B"/>
                </a:solidFill>
              </a:defRPr>
            </a:pPr>
            <a:r>
              <a:t>JAGAT GURU NANAK DEV PUNJAB STATE OPEN UNIVERSITY, PATIALA | M.SC. (CS)</a:t>
            </a:r>
          </a:p>
        </p:txBody>
      </p:sp>
      <p:sp>
        <p:nvSpPr>
          <p:cNvPr id="4" name="Rectangle 3"/>
          <p:cNvSpPr/>
          <p:nvPr/>
        </p:nvSpPr>
        <p:spPr>
          <a:xfrm>
            <a:off x="731520" y="457200"/>
            <a:ext cx="137160" cy="914400"/>
          </a:xfrm>
          <a:prstGeom prst="rect">
            <a:avLst/>
          </a:prstGeom>
          <a:solidFill>
            <a:srgbClr val="C58B3A"/>
          </a:solidFill>
          <a:ln>
            <a:solidFill>
              <a:srgbClr val="C58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10728655" cy="46634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0"/>
              </a:spcAft>
              <a:defRPr sz="1300">
                <a:solidFill>
                  <a:srgbClr val="1E293B"/>
                </a:solidFill>
              </a:defRPr>
            </a:pPr>
            <a:r>
              <a:t>•   Visual Frontiers:</a:t>
            </a:r>
          </a:p>
          <a:p>
            <a:pPr>
              <a:spcAft>
                <a:spcPts val="1000"/>
              </a:spcAft>
              <a:defRPr sz="1300">
                <a:solidFill>
                  <a:srgbClr val="1E293B"/>
                </a:solidFill>
              </a:defRPr>
            </a:pPr>
            <a:r>
              <a:t>•   SQLite compiled to WebAssembly (Wasm) via Origin Private File System (OPFS).</a:t>
            </a:r>
          </a:p>
          <a:p>
            <a:pPr>
              <a:spcAft>
                <a:spcPts val="1000"/>
              </a:spcAft>
              <a:defRPr sz="1300">
                <a:solidFill>
                  <a:srgbClr val="1E293B"/>
                </a:solidFill>
              </a:defRPr>
            </a:pPr>
            <a:r>
              <a:t>•   On-Device Quantized LLMs (WebGPU execution of small parameter models).</a:t>
            </a:r>
          </a:p>
        </p:txBody>
      </p:sp>
      <p:sp>
        <p:nvSpPr>
          <p:cNvPr id="6" name="TextBox 5"/>
          <p:cNvSpPr txBox="1"/>
          <p:nvPr/>
        </p:nvSpPr>
        <p:spPr>
          <a:xfrm>
            <a:off x="731520" y="6309360"/>
            <a:ext cx="10728655" cy="365760"/>
          </a:xfrm>
          <a:prstGeom prst="rect">
            <a:avLst/>
          </a:prstGeom>
          <a:noFill/>
        </p:spPr>
        <p:txBody>
          <a:bodyPr wrap="none">
            <a:spAutoFit/>
          </a:bodyPr>
          <a:lstStyle/>
          <a:p>
            <a:pPr>
              <a:defRPr sz="900">
                <a:solidFill>
                  <a:srgbClr val="64748B"/>
                </a:solidFill>
              </a:defRPr>
            </a:pPr>
            <a:r>
              <a:t>Slide 12 of 16   |   Candidate: Sumit Singh (Roll No: PSOU/MSCS/2026/042)   |   JGND PSOU, Patiala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9144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900" b="1">
                <a:solidFill>
                  <a:srgbClr val="0F1E36"/>
                </a:solidFill>
              </a:defRPr>
            </a:pPr>
            <a:r>
              <a:t>Conclusion</a:t>
            </a:r>
          </a:p>
          <a:p>
            <a:pPr algn="l">
              <a:defRPr sz="900" b="1">
                <a:solidFill>
                  <a:srgbClr val="64748B"/>
                </a:solidFill>
              </a:defRPr>
            </a:pPr>
            <a:r>
              <a:t>JAGAT GURU NANAK DEV PUNJAB STATE OPEN UNIVERSITY, PATIALA | M.SC. (CS)</a:t>
            </a:r>
          </a:p>
        </p:txBody>
      </p:sp>
      <p:sp>
        <p:nvSpPr>
          <p:cNvPr id="4" name="Rectangle 3"/>
          <p:cNvSpPr/>
          <p:nvPr/>
        </p:nvSpPr>
        <p:spPr>
          <a:xfrm>
            <a:off x="731520" y="457200"/>
            <a:ext cx="137160" cy="914400"/>
          </a:xfrm>
          <a:prstGeom prst="rect">
            <a:avLst/>
          </a:prstGeom>
          <a:solidFill>
            <a:srgbClr val="C58B3A"/>
          </a:solidFill>
          <a:ln>
            <a:solidFill>
              <a:srgbClr val="C58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10728655" cy="46634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0"/>
              </a:spcAft>
              <a:defRPr sz="1300">
                <a:solidFill>
                  <a:srgbClr val="1E293B"/>
                </a:solidFill>
              </a:defRPr>
            </a:pPr>
            <a:r>
              <a:t>•   Key Summary Takeaways:</a:t>
            </a:r>
          </a:p>
        </p:txBody>
      </p:sp>
      <p:sp>
        <p:nvSpPr>
          <p:cNvPr id="6" name="TextBox 5"/>
          <p:cNvSpPr txBox="1"/>
          <p:nvPr/>
        </p:nvSpPr>
        <p:spPr>
          <a:xfrm>
            <a:off x="731520" y="6309360"/>
            <a:ext cx="10728655" cy="365760"/>
          </a:xfrm>
          <a:prstGeom prst="rect">
            <a:avLst/>
          </a:prstGeom>
          <a:noFill/>
        </p:spPr>
        <p:txBody>
          <a:bodyPr wrap="none">
            <a:spAutoFit/>
          </a:bodyPr>
          <a:lstStyle/>
          <a:p>
            <a:pPr>
              <a:defRPr sz="900">
                <a:solidFill>
                  <a:srgbClr val="64748B"/>
                </a:solidFill>
              </a:defRPr>
            </a:pPr>
            <a:r>
              <a:t>Slide 13 of 16   |   Candidate: Sumit Singh (Roll No: PSOU/MSCS/2026/042)   |   JGND PSOU, Patiala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9144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900" b="1">
                <a:solidFill>
                  <a:srgbClr val="0F1E36"/>
                </a:solidFill>
              </a:defRPr>
            </a:pPr>
            <a:r>
              <a:t>Academic References &amp; Bibliography</a:t>
            </a:r>
          </a:p>
          <a:p>
            <a:pPr algn="l">
              <a:defRPr sz="900" b="1">
                <a:solidFill>
                  <a:srgbClr val="64748B"/>
                </a:solidFill>
              </a:defRPr>
            </a:pPr>
            <a:r>
              <a:t>JAGAT GURU NANAK DEV PUNJAB STATE OPEN UNIVERSITY, PATIALA | M.SC. (CS)</a:t>
            </a:r>
          </a:p>
        </p:txBody>
      </p:sp>
      <p:sp>
        <p:nvSpPr>
          <p:cNvPr id="4" name="Rectangle 3"/>
          <p:cNvSpPr/>
          <p:nvPr/>
        </p:nvSpPr>
        <p:spPr>
          <a:xfrm>
            <a:off x="731520" y="457200"/>
            <a:ext cx="137160" cy="914400"/>
          </a:xfrm>
          <a:prstGeom prst="rect">
            <a:avLst/>
          </a:prstGeom>
          <a:solidFill>
            <a:srgbClr val="C58B3A"/>
          </a:solidFill>
          <a:ln>
            <a:solidFill>
              <a:srgbClr val="C58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10728655" cy="46634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0"/>
              </a:spcAft>
              <a:defRPr sz="1300">
                <a:solidFill>
                  <a:srgbClr val="1E293B"/>
                </a:solidFill>
              </a:defRPr>
            </a:pPr>
            <a:r>
              <a:t>•   Visual Citations:</a:t>
            </a:r>
          </a:p>
          <a:p>
            <a:pPr>
              <a:spcAft>
                <a:spcPts val="1000"/>
              </a:spcAft>
              <a:defRPr sz="1300">
                <a:solidFill>
                  <a:srgbClr val="1E293B"/>
                </a:solidFill>
              </a:defRPr>
            </a:pPr>
            <a:r>
              <a:t>•   Kleppmann et al. (2019), *PACMHCI (OOPSLA)* — Local-First Software.</a:t>
            </a:r>
          </a:p>
          <a:p>
            <a:pPr>
              <a:spcAft>
                <a:spcPts val="1000"/>
              </a:spcAft>
              <a:defRPr sz="1300">
                <a:solidFill>
                  <a:srgbClr val="1E293B"/>
                </a:solidFill>
              </a:defRPr>
            </a:pPr>
            <a:r>
              <a:t>•   Brewer (2012), *IEEE Computer* — CAP Theorem.</a:t>
            </a:r>
          </a:p>
          <a:p>
            <a:pPr>
              <a:spcAft>
                <a:spcPts val="1000"/>
              </a:spcAft>
              <a:defRPr sz="1300">
                <a:solidFill>
                  <a:srgbClr val="1E293B"/>
                </a:solidFill>
              </a:defRPr>
            </a:pPr>
            <a:r>
              <a:t>•   Abadi (2012), *IEEE Computer* — PACELC Theorem.</a:t>
            </a:r>
          </a:p>
          <a:p>
            <a:pPr>
              <a:spcAft>
                <a:spcPts val="1000"/>
              </a:spcAft>
              <a:defRPr sz="1300">
                <a:solidFill>
                  <a:srgbClr val="1E293B"/>
                </a:solidFill>
              </a:defRPr>
            </a:pPr>
            <a:r>
              <a:t>•   Shapiro et al. (2011), *Springer SSS* — CRDTs.</a:t>
            </a:r>
          </a:p>
          <a:p>
            <a:pPr>
              <a:spcAft>
                <a:spcPts val="1000"/>
              </a:spcAft>
              <a:defRPr sz="1300">
                <a:solidFill>
                  <a:srgbClr val="1E293B"/>
                </a:solidFill>
              </a:defRPr>
            </a:pPr>
            <a:r>
              <a:t>•   PostgreSQL Documentation (2024) — Row-Level Security.</a:t>
            </a:r>
          </a:p>
        </p:txBody>
      </p:sp>
      <p:sp>
        <p:nvSpPr>
          <p:cNvPr id="6" name="TextBox 5"/>
          <p:cNvSpPr txBox="1"/>
          <p:nvPr/>
        </p:nvSpPr>
        <p:spPr>
          <a:xfrm>
            <a:off x="731520" y="6309360"/>
            <a:ext cx="10728655" cy="365760"/>
          </a:xfrm>
          <a:prstGeom prst="rect">
            <a:avLst/>
          </a:prstGeom>
          <a:noFill/>
        </p:spPr>
        <p:txBody>
          <a:bodyPr wrap="none">
            <a:spAutoFit/>
          </a:bodyPr>
          <a:lstStyle/>
          <a:p>
            <a:pPr>
              <a:defRPr sz="900">
                <a:solidFill>
                  <a:srgbClr val="64748B"/>
                </a:solidFill>
              </a:defRPr>
            </a:pPr>
            <a:r>
              <a:t>Slide 14 of 16   |   Candidate: Sumit Singh (Roll No: PSOU/MSCS/2026/042)   |   JGND PSOU, Patiala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9144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900" b="1">
                <a:solidFill>
                  <a:srgbClr val="0F1E36"/>
                </a:solidFill>
              </a:defRPr>
            </a:pPr>
            <a:r>
              <a:t>Acknowledgments</a:t>
            </a:r>
          </a:p>
          <a:p>
            <a:pPr algn="l">
              <a:defRPr sz="900" b="1">
                <a:solidFill>
                  <a:srgbClr val="64748B"/>
                </a:solidFill>
              </a:defRPr>
            </a:pPr>
            <a:r>
              <a:t>JAGAT GURU NANAK DEV PUNJAB STATE OPEN UNIVERSITY, PATIALA | M.SC. (CS)</a:t>
            </a:r>
          </a:p>
        </p:txBody>
      </p:sp>
      <p:sp>
        <p:nvSpPr>
          <p:cNvPr id="4" name="Rectangle 3"/>
          <p:cNvSpPr/>
          <p:nvPr/>
        </p:nvSpPr>
        <p:spPr>
          <a:xfrm>
            <a:off x="731520" y="457200"/>
            <a:ext cx="137160" cy="914400"/>
          </a:xfrm>
          <a:prstGeom prst="rect">
            <a:avLst/>
          </a:prstGeom>
          <a:solidFill>
            <a:srgbClr val="C58B3A"/>
          </a:solidFill>
          <a:ln>
            <a:solidFill>
              <a:srgbClr val="C58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10728655" cy="46634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0"/>
              </a:spcAft>
              <a:defRPr sz="1300">
                <a:solidFill>
                  <a:srgbClr val="1E293B"/>
                </a:solidFill>
              </a:defRPr>
            </a:pPr>
            <a:r>
              <a:t>•   Visual Text:</a:t>
            </a:r>
          </a:p>
          <a:p>
            <a:pPr>
              <a:spcAft>
                <a:spcPts val="1000"/>
              </a:spcAft>
              <a:defRPr sz="1300">
                <a:solidFill>
                  <a:srgbClr val="1E293B"/>
                </a:solidFill>
              </a:defRPr>
            </a:pPr>
            <a:r>
              <a:t>•   Jagat Guru Nanak Dev Punjab State Open University, Patiala.</a:t>
            </a:r>
          </a:p>
          <a:p>
            <a:pPr>
              <a:spcAft>
                <a:spcPts val="1000"/>
              </a:spcAft>
              <a:defRPr sz="1300">
                <a:solidFill>
                  <a:srgbClr val="1E293B"/>
                </a:solidFill>
              </a:defRPr>
            </a:pPr>
            <a:r>
              <a:t>•   Department of Computer Science &amp; Applications.</a:t>
            </a:r>
          </a:p>
          <a:p>
            <a:pPr>
              <a:spcAft>
                <a:spcPts val="1000"/>
              </a:spcAft>
              <a:defRPr sz="1300">
                <a:solidFill>
                  <a:srgbClr val="1E293B"/>
                </a:solidFill>
              </a:defRPr>
            </a:pPr>
            <a:r>
              <a:t>•   Sincere gratitude to my Seminar Supervisor and Faculty Members.</a:t>
            </a:r>
          </a:p>
        </p:txBody>
      </p:sp>
      <p:sp>
        <p:nvSpPr>
          <p:cNvPr id="6" name="TextBox 5"/>
          <p:cNvSpPr txBox="1"/>
          <p:nvPr/>
        </p:nvSpPr>
        <p:spPr>
          <a:xfrm>
            <a:off x="731520" y="6309360"/>
            <a:ext cx="10728655" cy="365760"/>
          </a:xfrm>
          <a:prstGeom prst="rect">
            <a:avLst/>
          </a:prstGeom>
          <a:noFill/>
        </p:spPr>
        <p:txBody>
          <a:bodyPr wrap="none">
            <a:spAutoFit/>
          </a:bodyPr>
          <a:lstStyle/>
          <a:p>
            <a:pPr>
              <a:defRPr sz="900">
                <a:solidFill>
                  <a:srgbClr val="64748B"/>
                </a:solidFill>
              </a:defRPr>
            </a:pPr>
            <a:r>
              <a:t>Slide 15 of 16   |   Candidate: Sumit Singh (Roll No: PSOU/MSCS/2026/042)   |   JGND PSOU, Patiala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457200"/>
            <a:ext cx="10728655" cy="91440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900" b="1">
                <a:solidFill>
                  <a:srgbClr val="0F1E36"/>
                </a:solidFill>
              </a:defRPr>
            </a:pPr>
            <a:r>
              <a:t>Question &amp; Answer (Discussion Session)</a:t>
            </a:r>
          </a:p>
          <a:p>
            <a:pPr algn="l">
              <a:defRPr sz="900" b="1">
                <a:solidFill>
                  <a:srgbClr val="64748B"/>
                </a:solidFill>
              </a:defRPr>
            </a:pPr>
            <a:r>
              <a:t>JAGAT GURU NANAK DEV PUNJAB STATE OPEN UNIVERSITY, PATIALA | M.SC. (CS)</a:t>
            </a:r>
          </a:p>
        </p:txBody>
      </p:sp>
      <p:sp>
        <p:nvSpPr>
          <p:cNvPr id="4" name="Rectangle 3"/>
          <p:cNvSpPr/>
          <p:nvPr/>
        </p:nvSpPr>
        <p:spPr>
          <a:xfrm>
            <a:off x="731520" y="457200"/>
            <a:ext cx="137160" cy="914400"/>
          </a:xfrm>
          <a:prstGeom prst="rect">
            <a:avLst/>
          </a:prstGeom>
          <a:solidFill>
            <a:srgbClr val="C58B3A"/>
          </a:solidFill>
          <a:ln>
            <a:solidFill>
              <a:srgbClr val="C58B3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554480"/>
            <a:ext cx="10728655" cy="4663440"/>
          </a:xfrm>
          <a:prstGeom prst="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t" wrap="square"/>
          <a:lstStyle/>
          <a:p>
            <a:pPr algn="ctr">
              <a:spcAft>
                <a:spcPts val="1000"/>
              </a:spcAft>
              <a:defRPr sz="1300">
                <a:solidFill>
                  <a:srgbClr val="1E293B"/>
                </a:solidFill>
              </a:defRPr>
            </a:pPr>
            <a:r>
              <a:t>•   Visual Text:</a:t>
            </a:r>
          </a:p>
          <a:p>
            <a:pPr>
              <a:spcAft>
                <a:spcPts val="1000"/>
              </a:spcAft>
              <a:defRPr sz="1300">
                <a:solidFill>
                  <a:srgbClr val="1E293B"/>
                </a:solidFill>
              </a:defRPr>
            </a:pPr>
            <a:r>
              <a:t>•   Thank You for Your Time &amp; Attention.</a:t>
            </a:r>
          </a:p>
          <a:p>
            <a:pPr>
              <a:spcAft>
                <a:spcPts val="1000"/>
              </a:spcAft>
              <a:defRPr sz="1300">
                <a:solidFill>
                  <a:srgbClr val="1E293B"/>
                </a:solidFill>
              </a:defRPr>
            </a:pPr>
            <a:r>
              <a:t>•   *Floor Open for Questions, Critique &amp; Discussion.*</a:t>
            </a:r>
          </a:p>
        </p:txBody>
      </p:sp>
      <p:sp>
        <p:nvSpPr>
          <p:cNvPr id="6" name="TextBox 5"/>
          <p:cNvSpPr txBox="1"/>
          <p:nvPr/>
        </p:nvSpPr>
        <p:spPr>
          <a:xfrm>
            <a:off x="731520" y="6309360"/>
            <a:ext cx="10728655" cy="365760"/>
          </a:xfrm>
          <a:prstGeom prst="rect">
            <a:avLst/>
          </a:prstGeom>
          <a:noFill/>
        </p:spPr>
        <p:txBody>
          <a:bodyPr wrap="none">
            <a:spAutoFit/>
          </a:bodyPr>
          <a:lstStyle/>
          <a:p>
            <a:pPr>
              <a:defRPr sz="900">
                <a:solidFill>
                  <a:srgbClr val="64748B"/>
                </a:solidFill>
              </a:defRPr>
            </a:pPr>
            <a:r>
              <a:t>Slide 16 of 16   |   Candidate: Sumit Singh (Roll No: PSOU/MSCS/2026/042)   |   JGND PSOU, Patiala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